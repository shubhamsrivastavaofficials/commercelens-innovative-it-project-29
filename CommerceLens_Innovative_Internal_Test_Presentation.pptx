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c057e2584748c1" /><Relationship Type="http://schemas.openxmlformats.org/officeDocument/2006/relationships/extended-properties" Target="/docProps/app.xml" Id="Rc5bf3a9c126041e7" /><Relationship Type="http://schemas.openxmlformats.org/officeDocument/2006/relationships/officeDocument" Target="/ppt/presentation.xml" Id="R65c954f40f8b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df1889bb594c03"/>
  </p:sldMasterIdLst>
  <p:notesMasterIdLst>
    <p:notesMasterId xmlns:r="http://schemas.openxmlformats.org/officeDocument/2006/relationships" r:id="R0842bd82679d4246"/>
  </p:notesMasterIdLst>
  <p:sldIdLst>
    <p:sldId xmlns:r="http://schemas.openxmlformats.org/officeDocument/2006/relationships" id="256" r:id="Rc4d57d08ea6345b0"/>
    <p:sldId xmlns:r="http://schemas.openxmlformats.org/officeDocument/2006/relationships" id="257" r:id="Rb39dd7423b84422c"/>
    <p:sldId xmlns:r="http://schemas.openxmlformats.org/officeDocument/2006/relationships" id="258" r:id="Rdf0a96f54e9b4b29"/>
    <p:sldId xmlns:r="http://schemas.openxmlformats.org/officeDocument/2006/relationships" id="259" r:id="R372b0dbad8d84d75"/>
    <p:sldId xmlns:r="http://schemas.openxmlformats.org/officeDocument/2006/relationships" id="260" r:id="Ra03feb560b7d4c92"/>
    <p:sldId xmlns:r="http://schemas.openxmlformats.org/officeDocument/2006/relationships" id="261" r:id="Ra713a1da49b54aed"/>
    <p:sldId xmlns:r="http://schemas.openxmlformats.org/officeDocument/2006/relationships" id="262" r:id="R4d5898743afb4983"/>
    <p:sldId xmlns:r="http://schemas.openxmlformats.org/officeDocument/2006/relationships" id="263" r:id="Rfa8fbcad0ccc4e63"/>
    <p:sldId xmlns:r="http://schemas.openxmlformats.org/officeDocument/2006/relationships" id="264" r:id="R871f7bfbf4944dcb"/>
    <p:sldId xmlns:r="http://schemas.openxmlformats.org/officeDocument/2006/relationships" id="265" r:id="Rdffbba06dafb4cd4"/>
    <p:sldId xmlns:r="http://schemas.openxmlformats.org/officeDocument/2006/relationships" id="266" r:id="R9bd75a5fd75d4cc4"/>
    <p:sldId xmlns:r="http://schemas.openxmlformats.org/officeDocument/2006/relationships" id="267" r:id="Reabc45bf81fa43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1d273ad16c45fb" /><Relationship Type="http://schemas.openxmlformats.org/officeDocument/2006/relationships/slideMaster" Target="/ppt/slideMasters/slideMaster1.xml" Id="Reedf1889bb594c03" /><Relationship Type="http://schemas.openxmlformats.org/officeDocument/2006/relationships/notesMaster" Target="/ppt/notesMasters/notesMaster1.xml" Id="R0842bd82679d4246" /><Relationship Type="http://schemas.openxmlformats.org/officeDocument/2006/relationships/presProps" Target="/ppt/presProps.xml" Id="R5f50391974e24ff6" /><Relationship Type="http://schemas.openxmlformats.org/officeDocument/2006/relationships/tableStyles" Target="/ppt/tableStyles.xml" Id="Rbca73ea2ed1c4d0a" /><Relationship Type="http://schemas.openxmlformats.org/officeDocument/2006/relationships/slide" Target="/ppt/slides/slide1.xml" Id="Rc4d57d08ea6345b0" /><Relationship Type="http://schemas.openxmlformats.org/officeDocument/2006/relationships/slide" Target="/ppt/slides/slide2.xml" Id="Rb39dd7423b84422c" /><Relationship Type="http://schemas.openxmlformats.org/officeDocument/2006/relationships/slide" Target="/ppt/slides/slide3.xml" Id="Rdf0a96f54e9b4b29" /><Relationship Type="http://schemas.openxmlformats.org/officeDocument/2006/relationships/slide" Target="/ppt/slides/slide4.xml" Id="R372b0dbad8d84d75" /><Relationship Type="http://schemas.openxmlformats.org/officeDocument/2006/relationships/slide" Target="/ppt/slides/slide5.xml" Id="Ra03feb560b7d4c92" /><Relationship Type="http://schemas.openxmlformats.org/officeDocument/2006/relationships/slide" Target="/ppt/slides/slide6.xml" Id="Ra713a1da49b54aed" /><Relationship Type="http://schemas.openxmlformats.org/officeDocument/2006/relationships/slide" Target="/ppt/slides/slide7.xml" Id="R4d5898743afb4983" /><Relationship Type="http://schemas.openxmlformats.org/officeDocument/2006/relationships/slide" Target="/ppt/slides/slide8.xml" Id="Rfa8fbcad0ccc4e63" /><Relationship Type="http://schemas.openxmlformats.org/officeDocument/2006/relationships/slide" Target="/ppt/slides/slide9.xml" Id="R871f7bfbf4944dcb" /><Relationship Type="http://schemas.openxmlformats.org/officeDocument/2006/relationships/slide" Target="/ppt/slides/slide10.xml" Id="Rdffbba06dafb4cd4" /><Relationship Type="http://schemas.openxmlformats.org/officeDocument/2006/relationships/slide" Target="/ppt/slides/slide11.xml" Id="R9bd75a5fd75d4cc4" /><Relationship Type="http://schemas.openxmlformats.org/officeDocument/2006/relationships/slide" Target="/ppt/slides/slide12.xml" Id="Reabc45bf81fa43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7a3e222aae41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ommerceLens Academic">
      <a:dk1>
        <a:srgbClr val="000000"/>
      </a:dk1>
      <a:lt1>
        <a:srgbClr val="FFFFFF"/>
      </a:lt1>
      <a:dk2>
        <a:srgbClr val="1E355E"/>
      </a:dk2>
      <a:lt2>
        <a:srgbClr val="F2F5F9"/>
      </a:lt2>
      <a:accent1>
        <a:srgbClr val="294676"/>
      </a:accent1>
      <a:accent2>
        <a:srgbClr val="A5416C"/>
      </a:accent2>
      <a:accent3>
        <a:srgbClr val="B1783C"/>
      </a:accent3>
      <a:accent4>
        <a:srgbClr val="167E70"/>
      </a:accent4>
      <a:accent5>
        <a:srgbClr val="6E9A79"/>
      </a:accent5>
      <a:accent6>
        <a:srgbClr val="8A9CB9"/>
      </a:accent6>
      <a:hlink>
        <a:srgbClr val="294676"/>
      </a:hlink>
      <a:folHlink>
        <a:srgbClr val="A5416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ommerceLens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ecae828546445c" /><Relationship Type="http://schemas.openxmlformats.org/officeDocument/2006/relationships/notesMaster" Target="/ppt/notesMasters/notesMaster1.xml" Id="R671bb39291dc4f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cded64955c476c" /><Relationship Type="http://schemas.openxmlformats.org/officeDocument/2006/relationships/notesMaster" Target="/ppt/notesMasters/notesMaster1.xml" Id="Rf33b4e27eab64c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05a23e49aa4894" /><Relationship Type="http://schemas.openxmlformats.org/officeDocument/2006/relationships/notesMaster" Target="/ppt/notesMasters/notesMaster1.xml" Id="R75679c97a02341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1050b4a4454441" /><Relationship Type="http://schemas.openxmlformats.org/officeDocument/2006/relationships/notesMaster" Target="/ppt/notesMasters/notesMaster1.xml" Id="R0d69189c36e648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c9821632474012" /><Relationship Type="http://schemas.openxmlformats.org/officeDocument/2006/relationships/notesMaster" Target="/ppt/notesMasters/notesMaster1.xml" Id="Rc7647a90aa814e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1b3f2b98c6487d" /><Relationship Type="http://schemas.openxmlformats.org/officeDocument/2006/relationships/notesMaster" Target="/ppt/notesMasters/notesMaster1.xml" Id="R1e7556c21da344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ee0b0d508f4775" /><Relationship Type="http://schemas.openxmlformats.org/officeDocument/2006/relationships/notesMaster" Target="/ppt/notesMasters/notesMaster1.xml" Id="R145182b3cfac42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149cd706274c77" /><Relationship Type="http://schemas.openxmlformats.org/officeDocument/2006/relationships/notesMaster" Target="/ppt/notesMasters/notesMaster1.xml" Id="R532b0759c93341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5964ac46364f46" /><Relationship Type="http://schemas.openxmlformats.org/officeDocument/2006/relationships/notesMaster" Target="/ppt/notesMasters/notesMaster1.xml" Id="R5f1ad17cfd194d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c009b6d83a4932" /><Relationship Type="http://schemas.openxmlformats.org/officeDocument/2006/relationships/notesMaster" Target="/ppt/notesMasters/notesMaster1.xml" Id="R5da7839667be48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8241ba19f94687" /><Relationship Type="http://schemas.openxmlformats.org/officeDocument/2006/relationships/notesMaster" Target="/ppt/notesMasters/notesMaster1.xml" Id="Re90c782739dd46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70a67fbc1349e7" /><Relationship Type="http://schemas.openxmlformats.org/officeDocument/2006/relationships/notesMaster" Target="/ppt/notesMasters/notesMaster1.xml" Id="Rfc5d8762ead942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details supplied by the project team. The crest shown here was cropped from the user-provided reference slide; text and project details were taken from the team’s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is a descriptive analytics prototype. It presents grouped summaries from item-level orders and does not claim to establish why a customer purchased.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summary: 4,661 item records, 2,400 orders, 632 pseudonymous customer IDs and 5,393 units, covering 2025-10-23 to 2026-10-22. All data is generated for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RFM groups use fixed recency, frequency and monetary-value rules. The app evaluates segment rules in order: Champions (4+ orders and recency ≤ 60 days), otherwise Loyal (3+ orders), otherwise At risk (2+ orders and recency &gt; 120 days), otherwise New &amp; occasional. Method background: Fader, P. S., Hardie, B. G. S., and Lee, K. L. (2005), “RFM and CLV: Using Iso-Value Curves for Customer Base Analysis,” Journal of Marketing Research, 42(4), 415–430. https://doi.org/10.1509/jmkr.2005.42.4.415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monthly sales figures come from the generated sample. October 2025 starts on 23 October and October 2026 ends on 22 October; both months are partial. Net revenue is after line discounts and excludes tax, shipping, refunds, returns and product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RFM means recency, frequency and monetary value. Segment totals are descriptive and generated from the bundled sample. The app applies rules in order: Champions first, then Loyal, then At risk, then New &amp; occasional. This is not a churn or lifetime-value prediction. Literature: Fader, P. S., Hardie, B. G. S., and Lee, K. L. (2005), “RFM and CLV: Using Iso-Value Curves for Customer Base Analysis,” Journal of Marketing Research, 42(4), 415–430. https://doi.org/10.1509/jmkr.2005.42.4.415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Category pair counts group distinct categories by order_id and count each pair once per order. The rule-mining literature includes association measures such as support and confidence; this prototype presents simpler co-occurrence counts and does not claim to calculate formal association rules. Reference: Agrawal, R., Imieliński, T., and Swami, A. (1993), “Mining Association Rules Between Sets of Items in Large Databases,” Proceedings of ACM SIGMOD, pp. 207–216. https://doi.org/10.1145/170035.170072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screenshot captured from the submitted local index.html dashboard using its bundled sample data. It is not a mock-up. Imported CSV files are processed in the browser and are not stored by a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 results and limitations are calculated from the bundled generated dataset. No independent accuracy benchmark or real business validation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[1] R. Agrawal, T. Imieliński, and A. Swami (1993), “Mining Association Rules Between Sets of Items in Large Databases,” Proceedings of ACM SIGMOD, 207–216. https://doi.org/10.1145/170035.170072. [2] P. S. Fader, B. G. S. Hardie, and K. L. Lee (2005), “RFM and CLV: Using Iso-Value Curves for Customer Base Analysis,” Journal of Marketing Research, 42(4), 415–430. https://doi.org/10.1509/jmkr.2005.42.4.415.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2779aa76f49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1f3ed83d548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e351708454c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69eda067b4d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b7403bb454b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ad3af05644b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C88D30-2C9A-4C31-82D7-7B68812283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1B321F-C0C6-440D-B106-E621C6994F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37E857-6C87-4E83-94FE-20DC74126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551F44-5246-416B-946C-51AF914F2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8EDA6C-C29E-4134-85E7-CA452C3E24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D6532C-16D2-4BC1-BE28-37D18178DA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0FE860-9F53-43B0-84F1-1448B41F2D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E553C0-B15F-40E2-B523-9DD9AB33DA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CA16FD-D993-4ACD-836E-1E278E857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1EC423-9BE5-4258-8D3E-8B90E2A66D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0c6bd6a722454c" /><Relationship Type="http://schemas.openxmlformats.org/officeDocument/2006/relationships/slideLayout" Target="/ppt/slideLayouts/slideLayout1.xml" Id="R6ea2121ab4f444ac" /><Relationship Type="http://schemas.openxmlformats.org/officeDocument/2006/relationships/slideLayout" Target="/ppt/slideLayouts/slideLayout2.xml" Id="Rc43b899fb23b481f" /><Relationship Type="http://schemas.openxmlformats.org/officeDocument/2006/relationships/slideLayout" Target="/ppt/slideLayouts/slideLayout3.xml" Id="Rda8c72a2f4454b6c" /><Relationship Type="http://schemas.openxmlformats.org/officeDocument/2006/relationships/slideLayout" Target="/ppt/slideLayouts/slideLayout4.xml" Id="R7871d26d977a4e26" /><Relationship Type="http://schemas.openxmlformats.org/officeDocument/2006/relationships/slideLayout" Target="/ppt/slideLayouts/slideLayout5.xml" Id="Rad84197f40a74f4f" /><Relationship Type="http://schemas.openxmlformats.org/officeDocument/2006/relationships/slideLayout" Target="/ppt/slideLayouts/slideLayout6.xml" Id="R19e742e89d9a43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a2121ab4f444ac"/>
    <p:sldLayoutId xmlns:r="http://schemas.openxmlformats.org/officeDocument/2006/relationships" id="2147483650" r:id="Rc43b899fb23b481f"/>
    <p:sldLayoutId xmlns:r="http://schemas.openxmlformats.org/officeDocument/2006/relationships" id="2147483651" r:id="Rda8c72a2f4454b6c"/>
    <p:sldLayoutId xmlns:r="http://schemas.openxmlformats.org/officeDocument/2006/relationships" id="2147483652" r:id="R7871d26d977a4e26"/>
    <p:sldLayoutId xmlns:r="http://schemas.openxmlformats.org/officeDocument/2006/relationships" id="2147483653" r:id="Rad84197f40a74f4f"/>
    <p:sldLayoutId xmlns:r="http://schemas.openxmlformats.org/officeDocument/2006/relationships" id="2147483654" r:id="R19e742e89d9a43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mmerceLens Academic">
      <a:dk1>
        <a:srgbClr val="000000"/>
      </a:dk1>
      <a:lt1>
        <a:srgbClr val="FFFFFF"/>
      </a:lt1>
      <a:dk2>
        <a:srgbClr val="1E355E"/>
      </a:dk2>
      <a:lt2>
        <a:srgbClr val="F2F5F9"/>
      </a:lt2>
      <a:accent1>
        <a:srgbClr val="294676"/>
      </a:accent1>
      <a:accent2>
        <a:srgbClr val="A5416C"/>
      </a:accent2>
      <a:accent3>
        <a:srgbClr val="B1783C"/>
      </a:accent3>
      <a:accent4>
        <a:srgbClr val="167E70"/>
      </a:accent4>
      <a:accent5>
        <a:srgbClr val="6E9A79"/>
      </a:accent5>
      <a:accent6>
        <a:srgbClr val="8A9CB9"/>
      </a:accent6>
      <a:hlink>
        <a:srgbClr val="294676"/>
      </a:hlink>
      <a:folHlink>
        <a:srgbClr val="A5416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ommerceLens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e3012d10a4b55" /><Relationship Type="http://schemas.openxmlformats.org/officeDocument/2006/relationships/image" Target="/ppt/media/image.png" Id="R074e20081ee4423d" /><Relationship Type="http://schemas.openxmlformats.org/officeDocument/2006/relationships/notesSlide" Target="/ppt/notesSlides/notesSlide1.xml" Id="R57314e21206a40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cef275dd7401a" /><Relationship Type="http://schemas.openxmlformats.org/officeDocument/2006/relationships/notesSlide" Target="/ppt/notesSlides/notesSlide2.xml" Id="Rfb660c58ac1f49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2ac39404e4bd6" /><Relationship Type="http://schemas.openxmlformats.org/officeDocument/2006/relationships/notesSlide" Target="/ppt/notesSlides/notesSlide3.xml" Id="R272f3f1529d642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da3854db7485c" /><Relationship Type="http://schemas.openxmlformats.org/officeDocument/2006/relationships/notesSlide" Target="/ppt/notesSlides/notesSlide4.xml" Id="R50fde3cde27c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d05832c054687" /><Relationship Type="http://schemas.openxmlformats.org/officeDocument/2006/relationships/notesSlide" Target="/ppt/notesSlides/notesSlide5.xml" Id="Rc4eb987085864e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a62813aa24a05" /><Relationship Type="http://schemas.openxmlformats.org/officeDocument/2006/relationships/chart" Target="/ppt/slides/charts/chart1.xml" Id="R766cb2a8f1964102" /><Relationship Type="http://schemas.openxmlformats.org/officeDocument/2006/relationships/notesSlide" Target="/ppt/notesSlides/notesSlide6.xml" Id="R6969b1e561e749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77a83f8e4471a" /><Relationship Type="http://schemas.openxmlformats.org/officeDocument/2006/relationships/chart" Target="/ppt/slides/charts/chart2.xml" Id="R5a61f33c66434e4a" /><Relationship Type="http://schemas.openxmlformats.org/officeDocument/2006/relationships/notesSlide" Target="/ppt/notesSlides/notesSlide7.xml" Id="Ref0fae31f57d4b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a8046242741d9" /><Relationship Type="http://schemas.openxmlformats.org/officeDocument/2006/relationships/chart" Target="/ppt/slides/charts/chart3.xml" Id="R0c5150dbec88421f" /><Relationship Type="http://schemas.openxmlformats.org/officeDocument/2006/relationships/notesSlide" Target="/ppt/notesSlides/notesSlide8.xml" Id="R053dcd38b34d44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84ce2c92145bc" /><Relationship Type="http://schemas.openxmlformats.org/officeDocument/2006/relationships/chart" Target="/ppt/slides/charts/chart4.xml" Id="R7bf89fd623f24a7c" /><Relationship Type="http://schemas.openxmlformats.org/officeDocument/2006/relationships/notesSlide" Target="/ppt/notesSlides/notesSlide9.xml" Id="R0a3f61e5bcc445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c6273c44214c56" /><Relationship Type="http://schemas.openxmlformats.org/officeDocument/2006/relationships/image" Target="/ppt/media/image2.png" Id="Raf77d9768b4a45d4" /><Relationship Type="http://schemas.openxmlformats.org/officeDocument/2006/relationships/notesSlide" Target="/ppt/notesSlides/notesSlide10.xml" Id="Rf2e41246595d4e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0fe133d5b4845" /><Relationship Type="http://schemas.openxmlformats.org/officeDocument/2006/relationships/notesSlide" Target="/ppt/notesSlides/notesSlide11.xml" Id="Rd8cc0b6138fe48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bdf1e68434411" /><Relationship Type="http://schemas.openxmlformats.org/officeDocument/2006/relationships/notesSlide" Target="/ppt/notesSlides/notesSlide12.xml" Id="Rc1e989a498c141e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Net revenue (USD)</c:v>
          </c:tx>
          <c:spPr>
            <a:ln xmlns:a="http://schemas.openxmlformats.org/drawingml/2006/main" w="28575">
              <a:solidFill>
                <a:srgbClr val="294676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5416C"/>
              </a:solidFill>
            </c:spPr>
          </c:marker>
          <c:cat>
            <c:strLit>
              <c:ptCount val="13"/>
              <c:pt idx="0">
                <c:v>Oct ’25*</c:v>
              </c:pt>
              <c:pt idx="1">
                <c:v>Nov ’25</c:v>
              </c:pt>
              <c:pt idx="2">
                <c:v>Dec ’25</c:v>
              </c:pt>
              <c:pt idx="3">
                <c:v>Jan ’26</c:v>
              </c:pt>
              <c:pt idx="4">
                <c:v>Feb ’26</c:v>
              </c:pt>
              <c:pt idx="5">
                <c:v>Mar ’26</c:v>
              </c:pt>
              <c:pt idx="6">
                <c:v>Apr ’26</c:v>
              </c:pt>
              <c:pt idx="7">
                <c:v>May ’26</c:v>
              </c:pt>
              <c:pt idx="8">
                <c:v>Jun ’26</c:v>
              </c:pt>
              <c:pt idx="9">
                <c:v>Jul ’26</c:v>
              </c:pt>
              <c:pt idx="10">
                <c:v>Aug ’26</c:v>
              </c:pt>
              <c:pt idx="11">
                <c:v>Sep ’26</c:v>
              </c:pt>
              <c:pt idx="12">
                <c:v>Oct ’26*</c:v>
              </c:pt>
            </c:strLit>
          </c:cat>
          <c:val>
            <c:numLit>
              <c:formatCode>$#,##0</c:formatCode>
              <c:ptCount val="13"/>
              <c:pt idx="0">
                <c:v>7835</c:v>
              </c:pt>
              <c:pt idx="1">
                <c:v>19076</c:v>
              </c:pt>
              <c:pt idx="2">
                <c:v>19507</c:v>
              </c:pt>
              <c:pt idx="3">
                <c:v>19155</c:v>
              </c:pt>
              <c:pt idx="4">
                <c:v>16493</c:v>
              </c:pt>
              <c:pt idx="5">
                <c:v>18801</c:v>
              </c:pt>
              <c:pt idx="6">
                <c:v>20852</c:v>
              </c:pt>
              <c:pt idx="7">
                <c:v>20200</c:v>
              </c:pt>
              <c:pt idx="8">
                <c:v>19382</c:v>
              </c:pt>
              <c:pt idx="9">
                <c:v>18278</c:v>
              </c:pt>
              <c:pt idx="10">
                <c:v>18806</c:v>
              </c:pt>
              <c:pt idx="11">
                <c:v>20042</c:v>
              </c:pt>
              <c:pt idx="12">
                <c:v>13654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F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AF0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94676"/>
            </a:solidFill>
          </c:spPr>
          <c:invertIfNegative val="0"/>
          <c:cat>
            <c:strLit>
              <c:ptCount val="5"/>
              <c:pt idx="0">
                <c:v>Electronics</c:v>
              </c:pt>
              <c:pt idx="1">
                <c:v>Fashion</c:v>
              </c:pt>
              <c:pt idx="2">
                <c:v>Home &amp; Living</c:v>
              </c:pt>
              <c:pt idx="3">
                <c:v>Sports &amp; Outdoors</c:v>
              </c:pt>
              <c:pt idx="4">
                <c:v>Beauty &amp; Care</c:v>
              </c:pt>
            </c:strLit>
          </c:cat>
          <c:val>
            <c:numLit>
              <c:formatCode>General</c:formatCode>
              <c:ptCount val="5"/>
              <c:pt idx="0">
                <c:v>65702</c:v>
              </c:pt>
              <c:pt idx="1">
                <c:v>62348</c:v>
              </c:pt>
              <c:pt idx="2">
                <c:v>38504</c:v>
              </c:pt>
              <c:pt idx="3">
                <c:v>35586</c:v>
              </c:pt>
              <c:pt idx="4">
                <c:v>29942</c:v>
              </c:pt>
            </c:numLit>
          </c:val>
        </c:ser>
        <c:dLbls>
          <c:numFmt formatCode="$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3039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F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9DF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167E70"/>
            </a:solidFill>
          </c:spPr>
          <c:invertIfNegative val="0"/>
          <c:cat>
            <c:strLit>
              <c:ptCount val="4"/>
              <c:pt idx="0">
                <c:v>Champions</c:v>
              </c:pt>
              <c:pt idx="1">
                <c:v>Loyal</c:v>
              </c:pt>
              <c:pt idx="2">
                <c:v>At risk</c:v>
              </c:pt>
              <c:pt idx="3">
                <c:v>New &amp; occasional</c:v>
              </c:pt>
            </c:strLit>
          </c:cat>
          <c:val>
            <c:numLit>
              <c:formatCode>General</c:formatCode>
              <c:ptCount val="4"/>
              <c:pt idx="0">
                <c:v>200</c:v>
              </c:pt>
              <c:pt idx="1">
                <c:v>270</c:v>
              </c:pt>
              <c:pt idx="2">
                <c:v>49</c:v>
              </c:pt>
              <c:pt idx="3">
                <c:v>113</c:v>
              </c:pt>
            </c:numLit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3039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F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F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A5416C"/>
            </a:solidFill>
          </c:spPr>
          <c:invertIfNegative val="0"/>
          <c:cat>
            <c:strLit>
              <c:ptCount val="5"/>
              <c:pt idx="0">
                <c:v>Fashion + Home &amp; Living</c:v>
              </c:pt>
              <c:pt idx="1">
                <c:v>Fashion + Sports &amp; Outdoors</c:v>
              </c:pt>
              <c:pt idx="2">
                <c:v>Beauty &amp; Care + Sports &amp; Outdoors</c:v>
              </c:pt>
              <c:pt idx="3">
                <c:v>Beauty &amp; Care + Home &amp; Living</c:v>
              </c:pt>
              <c:pt idx="4">
                <c:v>Electronics + Sports &amp; Outdoors</c:v>
              </c:pt>
            </c:strLit>
          </c:cat>
          <c:val>
            <c:numLit>
              <c:formatCode>General</c:formatCode>
              <c:ptCount val="5"/>
              <c:pt idx="0">
                <c:v>240</c:v>
              </c:pt>
              <c:pt idx="1">
                <c:v>223</c:v>
              </c:pt>
              <c:pt idx="2">
                <c:v>222</c:v>
              </c:pt>
              <c:pt idx="3">
                <c:v>220</c:v>
              </c:pt>
              <c:pt idx="4">
                <c:v>219</c:v>
              </c:pt>
            </c:numLit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3039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F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F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5EAB2-4458-46D1-8BE9-0222F5C9BE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e20081ee4423d"/>
          <a:stretch xmlns:a="http://schemas.openxmlformats.org/drawingml/2006/main"/>
        </p:blipFill>
        <p:spPr>
          <a:xfrm xmlns:a="http://schemas.openxmlformats.org/drawingml/2006/main">
            <a:off x="594763" y="238125"/>
            <a:ext cx="1401274" cy="952500"/>
          </a:xfrm>
          <a:prstGeom xmlns:a="http://schemas.openxmlformats.org/drawingml/2006/main" prst="rect">
            <a:avLst/>
          </a:prstGeom>
        </p:spPr>
      </p:pic>
      <p:sp>
        <p:nvSpPr>
          <p:cNvPr id="2" name="institution">
            <a:extLst xmlns:a="http://schemas.openxmlformats.org/drawingml/2006/main">
              <a:ext uri="{FF2B5EF4-FFF2-40B4-BE49-F238E27FC236}">
                <a16:creationId xmlns:a16="http://schemas.microsoft.com/office/drawing/2014/main" id="{D8EE2876-4DA1-4337-91CA-85AF76B2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62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SHRI RAMSWAROOP MEMORIAL UNIVERSITY</a:t>
            </a:r>
          </a:p>
        </p:txBody>
      </p:sp>
      <p:sp>
        <p:nvSpPr>
          <p:cNvPr id="3" name="assessment">
            <a:extLst xmlns:a="http://schemas.openxmlformats.org/drawingml/2006/main">
              <a:ext uri="{FF2B5EF4-FFF2-40B4-BE49-F238E27FC236}">
                <a16:creationId xmlns:a16="http://schemas.microsoft.com/office/drawing/2014/main" id="{3BB9FD59-3B7D-4A78-A92C-6E7D5827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19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INNOVATIVE INTERNAL TEST  ·  DATA SCIENCE</a:t>
            </a:r>
          </a:p>
        </p:txBody>
      </p:sp>
      <p:sp>
        <p:nvSpPr>
          <p:cNvPr id="4" name="team-one">
            <a:extLst xmlns:a="http://schemas.openxmlformats.org/drawingml/2006/main">
              <a:ext uri="{FF2B5EF4-FFF2-40B4-BE49-F238E27FC236}">
                <a16:creationId xmlns:a16="http://schemas.microsoft.com/office/drawing/2014/main" id="{F88CDFC9-696C-4963-94B4-E2842531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895350"/>
            <a:ext cx="938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Shubham Srivastava   |   Roll No. 202410101150004</a:t>
            </a:r>
          </a:p>
        </p:txBody>
      </p:sp>
      <p:sp>
        <p:nvSpPr>
          <p:cNvPr id="5" name="team-two">
            <a:extLst xmlns:a="http://schemas.openxmlformats.org/drawingml/2006/main">
              <a:ext uri="{FF2B5EF4-FFF2-40B4-BE49-F238E27FC236}">
                <a16:creationId xmlns:a16="http://schemas.microsoft.com/office/drawing/2014/main" id="{D9BE8719-7A38-4590-B462-72AEAA79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23950"/>
            <a:ext cx="938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Shaikh Salman   |   Roll No. 202410101150006</a:t>
            </a:r>
          </a:p>
        </p:txBody>
      </p:sp>
      <p:sp>
        <p:nvSpPr>
          <p:cNvPr id="6" name="programme">
            <a:extLst xmlns:a="http://schemas.openxmlformats.org/drawingml/2006/main">
              <a:ext uri="{FF2B5EF4-FFF2-40B4-BE49-F238E27FC236}">
                <a16:creationId xmlns:a16="http://schemas.microsoft.com/office/drawing/2014/main" id="{7165D3A1-8244-49DA-8D10-7D15D107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352550"/>
            <a:ext cx="938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B.Tech. CSE (DS + AI)   ·   Fifth Semester   ·   Groups 51 &amp; 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B2A91-708C-4F9C-A072-C0080422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676"/>
            </a:solidFill>
            <a:prstDash val="solid"/>
          </a:ln>
        </p:spPr>
      </p:sp>
      <p:sp>
        <p:nvSpPr>
          <p:cNvPr id="8" name="project-label">
            <a:extLst xmlns:a="http://schemas.openxmlformats.org/drawingml/2006/main">
              <a:ext uri="{FF2B5EF4-FFF2-40B4-BE49-F238E27FC236}">
                <a16:creationId xmlns:a16="http://schemas.microsoft.com/office/drawing/2014/main" id="{02C8B6CA-DF6F-4780-9D60-5BFD050A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4312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PROJECT 29</a:t>
            </a:r>
          </a:p>
        </p:txBody>
      </p:sp>
      <p:sp>
        <p:nvSpPr>
          <p:cNvPr id="9" name="brand">
            <a:extLst xmlns:a="http://schemas.openxmlformats.org/drawingml/2006/main">
              <a:ext uri="{FF2B5EF4-FFF2-40B4-BE49-F238E27FC236}">
                <a16:creationId xmlns:a16="http://schemas.microsoft.com/office/drawing/2014/main" id="{C64F30AC-7500-428A-A1BB-5B2114D6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270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600" b="1" i="1" u="sng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COMMERCELENS</a:t>
            </a:r>
          </a:p>
        </p:txBody>
      </p:sp>
      <p:sp>
        <p:nvSpPr>
          <p:cNvPr id="10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DC2C62B2-1020-43F0-87CA-4FD9E95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Online Shopping Intelligence Dashboard</a:t>
            </a:r>
          </a:p>
        </p:txBody>
      </p:sp>
      <p:sp>
        <p:nvSpPr>
          <p:cNvPr id="11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5FE72FC9-6327-4DCD-8F10-9534DD16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4335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667183"/>
                </a:solidFill>
                <a:latin typeface="Georgia"/>
                <a:ea typeface="Georgia"/>
                <a:cs typeface="Georgia"/>
              </a:rPr>
              <a:t>A browser-based analytics prototype for sales, products, customer groups and shopping baskets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8E19D-FA30-4E1D-ACB8-AC19CD90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FE8"/>
            </a:solidFill>
            <a:prstDash val="solid"/>
          </a:ln>
        </p:spPr>
      </p:sp>
      <p:sp>
        <p:nvSpPr>
          <p:cNvPr id="1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DE112BE0-FF78-4CE0-B29C-A4295017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Interactive dashboard  ·  Synthetic demonstration data  ·  CSV import and export</a:t>
            </a:r>
          </a:p>
        </p:txBody>
      </p:sp>
      <p:sp>
        <p:nvSpPr>
          <p:cNvPr id="14" name="cover-app-type">
            <a:extLst xmlns:a="http://schemas.openxmlformats.org/drawingml/2006/main">
              <a:ext uri="{FF2B5EF4-FFF2-40B4-BE49-F238E27FC236}">
                <a16:creationId xmlns:a16="http://schemas.microsoft.com/office/drawing/2014/main" id="{357AF4C4-AE3A-400F-9D2E-07ED631B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72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Responsive web application  |  Descriptive analytics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A63AE-BFB4-4A82-896D-0748702B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6" name="cover-foot">
            <a:extLst xmlns:a="http://schemas.openxmlformats.org/drawingml/2006/main">
              <a:ext uri="{FF2B5EF4-FFF2-40B4-BE49-F238E27FC236}">
                <a16:creationId xmlns:a16="http://schemas.microsoft.com/office/drawing/2014/main" id="{86491808-5B38-4FA5-8E4C-3F6AF282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  ·  Innovative Internal Test</a:t>
            </a:r>
          </a:p>
        </p:txBody>
      </p:sp>
    </p:spTree>
    <p:extLst>
      <p:ext uri="{BB962C8B-B14F-4D97-AF65-F5344CB8AC3E}">
        <p14:creationId xmlns:p14="http://schemas.microsoft.com/office/powerpoint/2010/main" val="2089168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F517BF8-A2CE-42CA-84FC-C38B41FA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PROJECT CONTEXT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8D43B5-07B5-4201-A708-F3F59752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Online orders create data; analysis makes it useful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0E33DD-AB8D-4D91-86BD-0F210C2A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groups item-level records into views that support practical questions about shopping behaviour.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60D55-44B0-46CB-8368-90D75EE8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41BA8-AF19-4CB8-B9D6-F01E0B08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FB967475-C6AC-4CFC-84CF-A2B20C8C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C38CCE-4B19-482A-8F49-34FA3281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77458A90-8588-4840-9CED-AF7F0297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476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946"/>
          </a:bodyPr>
          <a:lstStyle xmlns:a="http://schemas.openxmlformats.org/drawingml/2006/main">
            <a:def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A transaction file shows each purchase one row at a time. It does not make product and customer patterns easy to compare.</a:t>
            </a:r>
          </a:p>
        </p:txBody>
      </p:sp>
      <p:sp>
        <p:nvSpPr>
          <p:cNvPr id="9" name="problem-detail">
            <a:extLst xmlns:a="http://schemas.openxmlformats.org/drawingml/2006/main">
              <a:ext uri="{FF2B5EF4-FFF2-40B4-BE49-F238E27FC236}">
                <a16:creationId xmlns:a16="http://schemas.microsoft.com/office/drawing/2014/main" id="{02CEF512-F23C-4622-B1C7-157B733F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4238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CommerceLens turns the rows into consistent sales, product, RFM customer and category-pair summaries in one browser workspace.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2A766-0F55-43D9-B011-DB882ED1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47850"/>
            <a:ext cx="0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9DFE8"/>
            </a:solidFill>
            <a:prstDash val="solid"/>
          </a:ln>
        </p:spPr>
      </p:sp>
      <p:sp>
        <p:nvSpPr>
          <p:cNvPr id="11" name="question-kicker-0">
            <a:extLst xmlns:a="http://schemas.openxmlformats.org/drawingml/2006/main">
              <a:ext uri="{FF2B5EF4-FFF2-40B4-BE49-F238E27FC236}">
                <a16:creationId xmlns:a16="http://schemas.microsoft.com/office/drawing/2014/main" id="{C5102EA5-A13E-4E2F-A4A7-9FD1ECB3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SALES</a:t>
            </a:r>
          </a:p>
        </p:txBody>
      </p:sp>
      <p:sp>
        <p:nvSpPr>
          <p:cNvPr id="12" name="question-text-0">
            <a:extLst xmlns:a="http://schemas.openxmlformats.org/drawingml/2006/main">
              <a:ext uri="{FF2B5EF4-FFF2-40B4-BE49-F238E27FC236}">
                <a16:creationId xmlns:a16="http://schemas.microsoft.com/office/drawing/2014/main" id="{B002E341-B857-415D-97C2-CBECA655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defPPr>
            <a:lvl1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rPr>
              <a:t>Which categories and channels contribute most to net revenue?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9D701-338D-4EE1-A657-C2E65885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4" name="question-kicker-1">
            <a:extLst xmlns:a="http://schemas.openxmlformats.org/drawingml/2006/main">
              <a:ext uri="{FF2B5EF4-FFF2-40B4-BE49-F238E27FC236}">
                <a16:creationId xmlns:a16="http://schemas.microsoft.com/office/drawing/2014/main" id="{E6BE31CA-1149-4F0E-AFFB-F556182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CUSTOMERS</a:t>
            </a:r>
          </a:p>
        </p:txBody>
      </p:sp>
      <p:sp>
        <p:nvSpPr>
          <p:cNvPr id="15" name="question-text-1">
            <a:extLst xmlns:a="http://schemas.openxmlformats.org/drawingml/2006/main">
              <a:ext uri="{FF2B5EF4-FFF2-40B4-BE49-F238E27FC236}">
                <a16:creationId xmlns:a16="http://schemas.microsoft.com/office/drawing/2014/main" id="{E4AC3655-0319-4B33-A1FE-EA4F938A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57575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defPPr>
            <a:lvl1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rPr>
              <a:t>How often do customer IDs return, and which groups appear less active?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C50FE-E92D-4779-B5B7-FB092268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7" name="question-kicker-2">
            <a:extLst xmlns:a="http://schemas.openxmlformats.org/drawingml/2006/main">
              <a:ext uri="{FF2B5EF4-FFF2-40B4-BE49-F238E27FC236}">
                <a16:creationId xmlns:a16="http://schemas.microsoft.com/office/drawing/2014/main" id="{B09CD16B-6C8D-4214-A4F1-F2E4AF83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9102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BASKETS</a:t>
            </a:r>
          </a:p>
        </p:txBody>
      </p:sp>
      <p:sp>
        <p:nvSpPr>
          <p:cNvPr id="18" name="question-text-2">
            <a:extLst xmlns:a="http://schemas.openxmlformats.org/drawingml/2006/main">
              <a:ext uri="{FF2B5EF4-FFF2-40B4-BE49-F238E27FC236}">
                <a16:creationId xmlns:a16="http://schemas.microsoft.com/office/drawing/2014/main" id="{59669C06-3662-47AE-AA3C-C9ADA306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defPPr>
            <a:lvl1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303944"/>
                </a:solidFill>
                <a:latin typeface="Georgia"/>
                <a:ea typeface="Georgia"/>
                <a:cs typeface="Georgia"/>
              </a:rPr>
              <a:t>Which product categories are present together in the same order?</a:t>
            </a:r>
          </a:p>
        </p:txBody>
      </p:sp>
    </p:spTree>
    <p:extLst>
      <p:ext uri="{BB962C8B-B14F-4D97-AF65-F5344CB8AC3E}">
        <p14:creationId xmlns:p14="http://schemas.microsoft.com/office/powerpoint/2010/main" val="191724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3DC3415-4581-40A4-B701-7CFCF129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PROJECT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A882FA-3019-4568-A287-0C3B2135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Project objectives and scope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01215D-BAFA-48AD-94AE-93D55EB2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The prototype focuses on calculations that can be explained from the transaction rows.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9CEEF-F435-4065-AE13-00741DA2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88307-86D1-4F82-B3A3-1ECFDA44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22C422E3-8EA6-4635-9017-D236C12E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5C3678C-818A-4791-A5B6-D6CD6B96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B51CF3A1-C040-433D-B44C-1E1D36B7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objective-name-0">
            <a:extLst xmlns:a="http://schemas.openxmlformats.org/drawingml/2006/main">
              <a:ext uri="{FF2B5EF4-FFF2-40B4-BE49-F238E27FC236}">
                <a16:creationId xmlns:a16="http://schemas.microsoft.com/office/drawing/2014/main" id="{E8799E9A-980F-4C5F-960F-7A8B3B8F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62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Sales overview</a:t>
            </a:r>
          </a:p>
        </p:txBody>
      </p:sp>
      <p:sp>
        <p:nvSpPr>
          <p:cNvPr id="10" name="objective-desc-0">
            <a:extLst xmlns:a="http://schemas.openxmlformats.org/drawingml/2006/main">
              <a:ext uri="{FF2B5EF4-FFF2-40B4-BE49-F238E27FC236}">
                <a16:creationId xmlns:a16="http://schemas.microsoft.com/office/drawing/2014/main" id="{9EA5D7A4-C0E4-4E30-B472-F2721CB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Summarise revenue, orders, customers, units and average order value.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27461-3E81-42B7-A77C-8A8AB170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574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D08C1596-7913-403D-AB7E-1CAE00EB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objective-name-1">
            <a:extLst xmlns:a="http://schemas.openxmlformats.org/drawingml/2006/main">
              <a:ext uri="{FF2B5EF4-FFF2-40B4-BE49-F238E27FC236}">
                <a16:creationId xmlns:a16="http://schemas.microsoft.com/office/drawing/2014/main" id="{233039FF-ED08-4744-8B62-8848ED25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03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Product comparison</a:t>
            </a:r>
          </a:p>
        </p:txBody>
      </p:sp>
      <p:sp>
        <p:nvSpPr>
          <p:cNvPr id="14" name="objective-desc-1">
            <a:extLst xmlns:a="http://schemas.openxmlformats.org/drawingml/2006/main">
              <a:ext uri="{FF2B5EF4-FFF2-40B4-BE49-F238E27FC236}">
                <a16:creationId xmlns:a16="http://schemas.microsoft.com/office/drawing/2014/main" id="{03734AEB-2301-4048-A848-53118EE2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Compare categories, products and sales channels.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AE273-E52B-4D1D-9BC8-5F847EE6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6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21E7493E-CD6A-4A41-9D7A-71A4CB01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38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objective-name-2">
            <a:extLst xmlns:a="http://schemas.openxmlformats.org/drawingml/2006/main">
              <a:ext uri="{FF2B5EF4-FFF2-40B4-BE49-F238E27FC236}">
                <a16:creationId xmlns:a16="http://schemas.microsoft.com/office/drawing/2014/main" id="{A106101A-EE91-45DF-8D35-6CDA07DC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385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Customer grouping</a:t>
            </a:r>
          </a:p>
        </p:txBody>
      </p:sp>
      <p:sp>
        <p:nvSpPr>
          <p:cNvPr id="18" name="objective-desc-2">
            <a:extLst xmlns:a="http://schemas.openxmlformats.org/drawingml/2006/main">
              <a:ext uri="{FF2B5EF4-FFF2-40B4-BE49-F238E27FC236}">
                <a16:creationId xmlns:a16="http://schemas.microsoft.com/office/drawing/2014/main" id="{8436FA7D-B089-4C70-9A15-0DB65F2D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Describe purchase histories with fixed RFM thresholds.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9A4A8-E285-4E45-B4DA-0E3CF06C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338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20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E90AA5EB-E11F-4D89-B8AF-E931E4D3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objective-name-3">
            <a:extLst xmlns:a="http://schemas.openxmlformats.org/drawingml/2006/main">
              <a:ext uri="{FF2B5EF4-FFF2-40B4-BE49-F238E27FC236}">
                <a16:creationId xmlns:a16="http://schemas.microsoft.com/office/drawing/2014/main" id="{E4F3CF49-4678-4303-A84E-ADE7D5DA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Basket patterns</a:t>
            </a:r>
          </a:p>
        </p:txBody>
      </p:sp>
      <p:sp>
        <p:nvSpPr>
          <p:cNvPr id="22" name="objective-desc-3">
            <a:extLst xmlns:a="http://schemas.openxmlformats.org/drawingml/2006/main">
              <a:ext uri="{FF2B5EF4-FFF2-40B4-BE49-F238E27FC236}">
                <a16:creationId xmlns:a16="http://schemas.microsoft.com/office/drawing/2014/main" id="{863D7BC5-0FF7-4242-9DD6-F9FB9D8A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72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Count category pairs that occur within an order.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4799F4-8AE3-4679-A082-03561A32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720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24" name="objective-num-4">
            <a:extLst xmlns:a="http://schemas.openxmlformats.org/drawingml/2006/main">
              <a:ext uri="{FF2B5EF4-FFF2-40B4-BE49-F238E27FC236}">
                <a16:creationId xmlns:a16="http://schemas.microsoft.com/office/drawing/2014/main" id="{270FD055-6986-40E3-99A0-0786F9F2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objective-name-4">
            <a:extLst xmlns:a="http://schemas.openxmlformats.org/drawingml/2006/main">
              <a:ext uri="{FF2B5EF4-FFF2-40B4-BE49-F238E27FC236}">
                <a16:creationId xmlns:a16="http://schemas.microsoft.com/office/drawing/2014/main" id="{63EC4B45-315D-48E3-BB68-56CD6999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149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Data handling</a:t>
            </a:r>
          </a:p>
        </p:txBody>
      </p:sp>
      <p:sp>
        <p:nvSpPr>
          <p:cNvPr id="26" name="objective-desc-4">
            <a:extLst xmlns:a="http://schemas.openxmlformats.org/drawingml/2006/main">
              <a:ext uri="{FF2B5EF4-FFF2-40B4-BE49-F238E27FC236}">
                <a16:creationId xmlns:a16="http://schemas.microsoft.com/office/drawing/2014/main" id="{F5516C83-DD97-421B-9C8D-6DB422AF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10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Import a compatible CSV and export the active filtered records.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3007E-4106-4398-AFA6-D0FF27B6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81175"/>
            <a:ext cx="0" cy="404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9DFE8"/>
            </a:solidFill>
            <a:prstDash val="solid"/>
          </a:ln>
        </p:spPr>
      </p:sp>
      <p:sp>
        <p:nvSpPr>
          <p:cNvPr id="28" name="scope-heading">
            <a:extLst xmlns:a="http://schemas.openxmlformats.org/drawingml/2006/main">
              <a:ext uri="{FF2B5EF4-FFF2-40B4-BE49-F238E27FC236}">
                <a16:creationId xmlns:a16="http://schemas.microsoft.com/office/drawing/2014/main" id="{05EF5168-5810-4AE0-A595-D02FE77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461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IN SCOPE</a:t>
            </a:r>
          </a:p>
        </p:txBody>
      </p:sp>
      <p:sp>
        <p:nvSpPr>
          <p:cNvPr id="29" name="scope-body">
            <a:extLst xmlns:a="http://schemas.openxmlformats.org/drawingml/2006/main">
              <a:ext uri="{FF2B5EF4-FFF2-40B4-BE49-F238E27FC236}">
                <a16:creationId xmlns:a16="http://schemas.microsoft.com/office/drawing/2014/main" id="{01E4F328-1EC5-4410-B4A3-8EAC7599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4619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A responsive client-side dashboard for descriptive analysis of single-currency item-level shopping records. CSV data remains in browser memory for the current session.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4357B8-AF40-4017-808D-13C6898F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81375"/>
            <a:ext cx="508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31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E7EC6E6F-FCDB-4A1A-A0A2-70B43E4B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461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OUT OF SCOPE</a:t>
            </a:r>
          </a:p>
        </p:txBody>
      </p:sp>
      <p:sp>
        <p:nvSpPr>
          <p:cNvPr id="32" name="limits-body">
            <a:extLst xmlns:a="http://schemas.openxmlformats.org/drawingml/2006/main">
              <a:ext uri="{FF2B5EF4-FFF2-40B4-BE49-F238E27FC236}">
                <a16:creationId xmlns:a16="http://schemas.microsoft.com/office/drawing/2014/main" id="{E217F426-1D17-4820-9235-7882FB52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4619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Payments, checkout, inventory, persistent storage, accounts, forecasting, tax, returns and cost-of-goods analysis.</a:t>
            </a:r>
          </a:p>
        </p:txBody>
      </p:sp>
      <p:sp>
        <p:nvSpPr>
          <p:cNvPr id="33" name="scope-note">
            <a:extLst xmlns:a="http://schemas.openxmlformats.org/drawingml/2006/main">
              <a:ext uri="{FF2B5EF4-FFF2-40B4-BE49-F238E27FC236}">
                <a16:creationId xmlns:a16="http://schemas.microsoft.com/office/drawing/2014/main" id="{90431EC1-AD92-4402-AF71-1ED51779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95875"/>
            <a:ext cx="461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67183"/>
                </a:solidFill>
                <a:latin typeface="Arial"/>
                <a:ea typeface="Arial"/>
                <a:cs typeface="Arial"/>
              </a:rPr>
              <a:t>A prototype for learning and demonstration; production use would require further validation and security work.</a:t>
            </a:r>
          </a:p>
        </p:txBody>
      </p:sp>
    </p:spTree>
    <p:extLst>
      <p:ext uri="{BB962C8B-B14F-4D97-AF65-F5344CB8AC3E}">
        <p14:creationId xmlns:p14="http://schemas.microsoft.com/office/powerpoint/2010/main" val="536466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9FE1D67-C369-4048-AA47-F2D93DD6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21F645-ADF6-4375-A43A-69C40531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Demonstration dataset at a glance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5DEE7C-B803-4D38-B27C-F7CCE414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The bundled sample is generated for the project and does not describe a real retailer.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AF04C-66C5-47F9-9D60-4C6A6743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0CD90-3E3D-4DFA-A5A8-4E12229E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EFC2D460-19D6-4E7E-8AC8-FAA0975E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28D1911-A973-4C2F-A605-A4EFF086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data-value-0">
            <a:extLst xmlns:a="http://schemas.openxmlformats.org/drawingml/2006/main">
              <a:ext uri="{FF2B5EF4-FFF2-40B4-BE49-F238E27FC236}">
                <a16:creationId xmlns:a16="http://schemas.microsoft.com/office/drawing/2014/main" id="{F5532A5F-83F8-44B3-8A60-100D9097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4,661</a:t>
            </a:r>
          </a:p>
        </p:txBody>
      </p:sp>
      <p:sp>
        <p:nvSpPr>
          <p:cNvPr id="9" name="data-label-0">
            <a:extLst xmlns:a="http://schemas.openxmlformats.org/drawingml/2006/main">
              <a:ext uri="{FF2B5EF4-FFF2-40B4-BE49-F238E27FC236}">
                <a16:creationId xmlns:a16="http://schemas.microsoft.com/office/drawing/2014/main" id="{6EBCC2C6-6813-4457-BA62-D6D3EFAA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item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F5825-5259-4437-B0FF-5C228AEA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11" name="data-value-1">
            <a:extLst xmlns:a="http://schemas.openxmlformats.org/drawingml/2006/main">
              <a:ext uri="{FF2B5EF4-FFF2-40B4-BE49-F238E27FC236}">
                <a16:creationId xmlns:a16="http://schemas.microsoft.com/office/drawing/2014/main" id="{1C6AA77A-C28D-4AFB-854F-5071ACF9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859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2,400</a:t>
            </a:r>
          </a:p>
        </p:txBody>
      </p:sp>
      <p:sp>
        <p:nvSpPr>
          <p:cNvPr id="12" name="data-label-1">
            <a:extLst xmlns:a="http://schemas.openxmlformats.org/drawingml/2006/main">
              <a:ext uri="{FF2B5EF4-FFF2-40B4-BE49-F238E27FC236}">
                <a16:creationId xmlns:a16="http://schemas.microsoft.com/office/drawing/2014/main" id="{E662254B-5D71-46A4-BEA5-AAFD494F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57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A26B5-E4B1-47AF-A904-A3A7F039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85950"/>
            <a:ext cx="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14" name="data-value-2">
            <a:extLst xmlns:a="http://schemas.openxmlformats.org/drawingml/2006/main">
              <a:ext uri="{FF2B5EF4-FFF2-40B4-BE49-F238E27FC236}">
                <a16:creationId xmlns:a16="http://schemas.microsoft.com/office/drawing/2014/main" id="{F3242DB2-165F-4CD4-B70A-5424B8C6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632</a:t>
            </a:r>
          </a:p>
        </p:txBody>
      </p:sp>
      <p:sp>
        <p:nvSpPr>
          <p:cNvPr id="15" name="data-label-2">
            <a:extLst xmlns:a="http://schemas.openxmlformats.org/drawingml/2006/main">
              <a:ext uri="{FF2B5EF4-FFF2-40B4-BE49-F238E27FC236}">
                <a16:creationId xmlns:a16="http://schemas.microsoft.com/office/drawing/2014/main" id="{17A666D2-0C00-40FC-9776-3AD2EE7F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customer IDs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75EAA-9E70-4448-8F3C-868679A8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17" name="data-value-3">
            <a:extLst xmlns:a="http://schemas.openxmlformats.org/drawingml/2006/main">
              <a:ext uri="{FF2B5EF4-FFF2-40B4-BE49-F238E27FC236}">
                <a16:creationId xmlns:a16="http://schemas.microsoft.com/office/drawing/2014/main" id="{9074FB3F-F4BB-4DAD-A6C3-AB295467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8859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5,393</a:t>
            </a:r>
          </a:p>
        </p:txBody>
      </p:sp>
      <p:sp>
        <p:nvSpPr>
          <p:cNvPr id="18" name="data-label-3">
            <a:extLst xmlns:a="http://schemas.openxmlformats.org/drawingml/2006/main">
              <a:ext uri="{FF2B5EF4-FFF2-40B4-BE49-F238E27FC236}">
                <a16:creationId xmlns:a16="http://schemas.microsoft.com/office/drawing/2014/main" id="{1F8D4889-6D50-4A60-A44E-2ACF394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57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units sold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88F055-6958-4FD5-93F2-8DDEE0C3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20" name="date-range-label">
            <a:extLst xmlns:a="http://schemas.openxmlformats.org/drawingml/2006/main">
              <a:ext uri="{FF2B5EF4-FFF2-40B4-BE49-F238E27FC236}">
                <a16:creationId xmlns:a16="http://schemas.microsoft.com/office/drawing/2014/main" id="{5E5E4816-A0A2-455C-AE55-88E59B3C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DATE RANGE</a:t>
            </a:r>
          </a:p>
        </p:txBody>
      </p:sp>
      <p:sp>
        <p:nvSpPr>
          <p:cNvPr id="21" name="date-range">
            <a:extLst xmlns:a="http://schemas.openxmlformats.org/drawingml/2006/main">
              <a:ext uri="{FF2B5EF4-FFF2-40B4-BE49-F238E27FC236}">
                <a16:creationId xmlns:a16="http://schemas.microsoft.com/office/drawing/2014/main" id="{C93E59FE-A1C5-4544-9B01-C0D3A652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19"/>
          </a:bodyPr>
          <a:lstStyle xmlns:a="http://schemas.openxmlformats.org/drawingml/2006/main">
            <a:def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303944"/>
                </a:solidFill>
                <a:latin typeface="Georgia"/>
                <a:ea typeface="Georgia"/>
                <a:cs typeface="Georgia"/>
              </a:rPr>
              <a:t>23 October 2025 – 22 October 2026</a:t>
            </a:r>
          </a:p>
        </p:txBody>
      </p:sp>
      <p:sp>
        <p:nvSpPr>
          <p:cNvPr id="22" name="data-grain-label">
            <a:extLst xmlns:a="http://schemas.openxmlformats.org/drawingml/2006/main">
              <a:ext uri="{FF2B5EF4-FFF2-40B4-BE49-F238E27FC236}">
                <a16:creationId xmlns:a16="http://schemas.microsoft.com/office/drawing/2014/main" id="{A9A286E6-727B-4974-B575-CBA9D002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670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RECORD GRAIN</a:t>
            </a:r>
          </a:p>
        </p:txBody>
      </p:sp>
      <p:sp>
        <p:nvSpPr>
          <p:cNvPr id="23" name="data-grain">
            <a:extLst xmlns:a="http://schemas.openxmlformats.org/drawingml/2006/main">
              <a:ext uri="{FF2B5EF4-FFF2-40B4-BE49-F238E27FC236}">
                <a16:creationId xmlns:a16="http://schemas.microsoft.com/office/drawing/2014/main" id="{D01663B1-EA91-4945-BD8F-EA6825C2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33775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One row represents one order-item line. Rows sharing an order ID belong to the same order.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AAAC1-6403-4B57-A2D9-40C3495A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25" name="field-header">
            <a:extLst xmlns:a="http://schemas.openxmlformats.org/drawingml/2006/main">
              <a:ext uri="{FF2B5EF4-FFF2-40B4-BE49-F238E27FC236}">
                <a16:creationId xmlns:a16="http://schemas.microsoft.com/office/drawing/2014/main" id="{61171721-3209-460B-828B-EDD10FF1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KEY CSV FIELDS</a:t>
            </a:r>
          </a:p>
        </p:txBody>
      </p:sp>
      <p:sp>
        <p:nvSpPr>
          <p:cNvPr id="26" name="field-name-0">
            <a:extLst xmlns:a="http://schemas.openxmlformats.org/drawingml/2006/main">
              <a:ext uri="{FF2B5EF4-FFF2-40B4-BE49-F238E27FC236}">
                <a16:creationId xmlns:a16="http://schemas.microsoft.com/office/drawing/2014/main" id="{C9E930BB-2566-4110-B312-81DD7842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27" name="field-desc-0">
            <a:extLst xmlns:a="http://schemas.openxmlformats.org/drawingml/2006/main">
              <a:ext uri="{FF2B5EF4-FFF2-40B4-BE49-F238E27FC236}">
                <a16:creationId xmlns:a16="http://schemas.microsoft.com/office/drawing/2014/main" id="{A7973BF8-E5EF-4A43-806B-6E153E7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29175"/>
            <a:ext cx="681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When the item was purchased</a:t>
            </a:r>
          </a:p>
        </p:txBody>
      </p:sp>
      <p:sp>
        <p:nvSpPr>
          <p:cNvPr id="28" name="field-name-1">
            <a:extLst xmlns:a="http://schemas.openxmlformats.org/drawingml/2006/main">
              <a:ext uri="{FF2B5EF4-FFF2-40B4-BE49-F238E27FC236}">
                <a16:creationId xmlns:a16="http://schemas.microsoft.com/office/drawing/2014/main" id="{C8AC7660-9188-4FC7-855F-A4A277A1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order_id</a:t>
            </a:r>
          </a:p>
        </p:txBody>
      </p:sp>
      <p:sp>
        <p:nvSpPr>
          <p:cNvPr id="29" name="field-desc-1">
            <a:extLst xmlns:a="http://schemas.openxmlformats.org/drawingml/2006/main">
              <a:ext uri="{FF2B5EF4-FFF2-40B4-BE49-F238E27FC236}">
                <a16:creationId xmlns:a16="http://schemas.microsoft.com/office/drawing/2014/main" id="{34601B45-84F4-47E0-95F9-01265209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05400"/>
            <a:ext cx="681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Connects lines in the same order</a:t>
            </a:r>
          </a:p>
        </p:txBody>
      </p:sp>
      <p:sp>
        <p:nvSpPr>
          <p:cNvPr id="30" name="field-name-2">
            <a:extLst xmlns:a="http://schemas.openxmlformats.org/drawingml/2006/main">
              <a:ext uri="{FF2B5EF4-FFF2-40B4-BE49-F238E27FC236}">
                <a16:creationId xmlns:a16="http://schemas.microsoft.com/office/drawing/2014/main" id="{926CE8B2-1BC7-425E-9BEE-FD39A1B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customer_id</a:t>
            </a:r>
          </a:p>
        </p:txBody>
      </p:sp>
      <p:sp>
        <p:nvSpPr>
          <p:cNvPr id="31" name="field-desc-2">
            <a:extLst xmlns:a="http://schemas.openxmlformats.org/drawingml/2006/main">
              <a:ext uri="{FF2B5EF4-FFF2-40B4-BE49-F238E27FC236}">
                <a16:creationId xmlns:a16="http://schemas.microsoft.com/office/drawing/2014/main" id="{8ADD4CF6-1FD2-40CB-AB4A-D257CC3C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681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Groups a customer’s order history</a:t>
            </a:r>
          </a:p>
        </p:txBody>
      </p:sp>
      <p:sp>
        <p:nvSpPr>
          <p:cNvPr id="32" name="field-name-3">
            <a:extLst xmlns:a="http://schemas.openxmlformats.org/drawingml/2006/main">
              <a:ext uri="{FF2B5EF4-FFF2-40B4-BE49-F238E27FC236}">
                <a16:creationId xmlns:a16="http://schemas.microsoft.com/office/drawing/2014/main" id="{094B37CD-B1B0-453F-8CA5-B680459C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category / product</a:t>
            </a:r>
          </a:p>
        </p:txBody>
      </p:sp>
      <p:sp>
        <p:nvSpPr>
          <p:cNvPr id="33" name="field-desc-3">
            <a:extLst xmlns:a="http://schemas.openxmlformats.org/drawingml/2006/main">
              <a:ext uri="{FF2B5EF4-FFF2-40B4-BE49-F238E27FC236}">
                <a16:creationId xmlns:a16="http://schemas.microsoft.com/office/drawing/2014/main" id="{379C694E-9FE2-439A-A14C-020729AC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57850"/>
            <a:ext cx="681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Names the purchased item</a:t>
            </a:r>
          </a:p>
        </p:txBody>
      </p:sp>
      <p:sp>
        <p:nvSpPr>
          <p:cNvPr id="34" name="field-name-4">
            <a:extLst xmlns:a="http://schemas.openxmlformats.org/drawingml/2006/main">
              <a:ext uri="{FF2B5EF4-FFF2-40B4-BE49-F238E27FC236}">
                <a16:creationId xmlns:a16="http://schemas.microsoft.com/office/drawing/2014/main" id="{E854071E-890B-40EE-989C-54AF04F0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quantity / unit_price / discount_pct</a:t>
            </a:r>
          </a:p>
        </p:txBody>
      </p:sp>
      <p:sp>
        <p:nvSpPr>
          <p:cNvPr id="35" name="field-desc-4">
            <a:extLst xmlns:a="http://schemas.openxmlformats.org/drawingml/2006/main">
              <a:ext uri="{FF2B5EF4-FFF2-40B4-BE49-F238E27FC236}">
                <a16:creationId xmlns:a16="http://schemas.microsoft.com/office/drawing/2014/main" id="{AA6E6487-12CC-4BDE-82A4-456571E1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34075"/>
            <a:ext cx="681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Supports the net line-revenue calculation</a:t>
            </a:r>
          </a:p>
        </p:txBody>
      </p:sp>
    </p:spTree>
    <p:extLst>
      <p:ext uri="{BB962C8B-B14F-4D97-AF65-F5344CB8AC3E}">
        <p14:creationId xmlns:p14="http://schemas.microsoft.com/office/powerpoint/2010/main" val="1269232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B77A4F3-B86A-4F5C-8D7D-664D46C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ANALYTICAL METHODS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EA3D58-E7F1-4DCA-B481-CA245135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How the dashboard calculates its measures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03C9D7C-0F02-4DD5-8997-C7AE60CA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The project uses transparent descriptive rules rather than trained predictive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4289F-484F-479E-B9AD-CAC28A9F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CF6BB-7A99-4152-9BE3-0E228D1E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F743DE0B-3169-4B36-8A4D-65678D19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8DED51A-C741-43D4-8689-93819425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method-num-0">
            <a:extLst xmlns:a="http://schemas.openxmlformats.org/drawingml/2006/main">
              <a:ext uri="{FF2B5EF4-FFF2-40B4-BE49-F238E27FC236}">
                <a16:creationId xmlns:a16="http://schemas.microsoft.com/office/drawing/2014/main" id="{D6165C7F-DBDD-4BC4-9686-337FBF9B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method-name-0">
            <a:extLst xmlns:a="http://schemas.openxmlformats.org/drawingml/2006/main">
              <a:ext uri="{FF2B5EF4-FFF2-40B4-BE49-F238E27FC236}">
                <a16:creationId xmlns:a16="http://schemas.microsoft.com/office/drawing/2014/main" id="{9F62965C-F3A7-4C04-BFCC-CF20B9D7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6212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Net line revenue</a:t>
            </a:r>
          </a:p>
        </p:txBody>
      </p:sp>
      <p:sp>
        <p:nvSpPr>
          <p:cNvPr id="10" name="method-formula-0">
            <a:extLst xmlns:a="http://schemas.openxmlformats.org/drawingml/2006/main">
              <a:ext uri="{FF2B5EF4-FFF2-40B4-BE49-F238E27FC236}">
                <a16:creationId xmlns:a16="http://schemas.microsoft.com/office/drawing/2014/main" id="{0D186E7D-ECF9-4A1E-A1A5-E3F413BD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62125"/>
            <a:ext cx="700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rPr>
              <a:t>quantity × unit price × (1 − discount% ÷ 100)</a:t>
            </a:r>
          </a:p>
        </p:txBody>
      </p:sp>
      <p:sp>
        <p:nvSpPr>
          <p:cNvPr id="11" name="method-desc-0">
            <a:extLst xmlns:a="http://schemas.openxmlformats.org/drawingml/2006/main">
              <a:ext uri="{FF2B5EF4-FFF2-40B4-BE49-F238E27FC236}">
                <a16:creationId xmlns:a16="http://schemas.microsoft.com/office/drawing/2014/main" id="{57B39AB2-A4CA-4D57-A498-F7E8D54D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00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Discount is applied to each item line before order totals are grouped.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C465C-8C4E-4618-8D85-A088DAF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431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3" name="method-num-1">
            <a:extLst xmlns:a="http://schemas.openxmlformats.org/drawingml/2006/main">
              <a:ext uri="{FF2B5EF4-FFF2-40B4-BE49-F238E27FC236}">
                <a16:creationId xmlns:a16="http://schemas.microsoft.com/office/drawing/2014/main" id="{8817B180-4B8B-4954-B12F-A7FB4547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method-name-1">
            <a:extLst xmlns:a="http://schemas.openxmlformats.org/drawingml/2006/main">
              <a:ext uri="{FF2B5EF4-FFF2-40B4-BE49-F238E27FC236}">
                <a16:creationId xmlns:a16="http://schemas.microsoft.com/office/drawing/2014/main" id="{4B0A78C0-67D3-434A-B009-226729E9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Average order value</a:t>
            </a:r>
          </a:p>
        </p:txBody>
      </p:sp>
      <p:sp>
        <p:nvSpPr>
          <p:cNvPr id="15" name="method-formula-1">
            <a:extLst xmlns:a="http://schemas.openxmlformats.org/drawingml/2006/main">
              <a:ext uri="{FF2B5EF4-FFF2-40B4-BE49-F238E27FC236}">
                <a16:creationId xmlns:a16="http://schemas.microsoft.com/office/drawing/2014/main" id="{984BDC2C-3EA6-4397-96D7-C9BFE92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700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rPr>
              <a:t>total net revenue ÷ distinct order count</a:t>
            </a:r>
          </a:p>
        </p:txBody>
      </p:sp>
      <p:sp>
        <p:nvSpPr>
          <p:cNvPr id="16" name="method-desc-1">
            <a:extLst xmlns:a="http://schemas.openxmlformats.org/drawingml/2006/main">
              <a:ext uri="{FF2B5EF4-FFF2-40B4-BE49-F238E27FC236}">
                <a16:creationId xmlns:a16="http://schemas.microsoft.com/office/drawing/2014/main" id="{3479E8B6-A9DE-4528-BFE3-224BEBCE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76575"/>
            <a:ext cx="700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Order IDs are counted once, even when an order has several items.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E5579-DAFA-4CE1-BAD0-95649436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8" name="method-num-2">
            <a:extLst xmlns:a="http://schemas.openxmlformats.org/drawingml/2006/main">
              <a:ext uri="{FF2B5EF4-FFF2-40B4-BE49-F238E27FC236}">
                <a16:creationId xmlns:a16="http://schemas.microsoft.com/office/drawing/2014/main" id="{BC552D1E-AAF3-4748-881E-84FB46D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method-name-2">
            <a:extLst xmlns:a="http://schemas.openxmlformats.org/drawingml/2006/main">
              <a:ext uri="{FF2B5EF4-FFF2-40B4-BE49-F238E27FC236}">
                <a16:creationId xmlns:a16="http://schemas.microsoft.com/office/drawing/2014/main" id="{A7C13CD2-5E08-4044-BA51-AF0DEBDE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2427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RFM groups</a:t>
            </a:r>
          </a:p>
        </p:txBody>
      </p:sp>
      <p:sp>
        <p:nvSpPr>
          <p:cNvPr id="20" name="method-formula-2">
            <a:extLst xmlns:a="http://schemas.openxmlformats.org/drawingml/2006/main">
              <a:ext uri="{FF2B5EF4-FFF2-40B4-BE49-F238E27FC236}">
                <a16:creationId xmlns:a16="http://schemas.microsoft.com/office/drawing/2014/main" id="{33803A43-FC91-43E2-BB46-04DB1AF4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24275"/>
            <a:ext cx="700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rPr>
              <a:t>recency · distinct order frequency · net spend</a:t>
            </a:r>
          </a:p>
        </p:txBody>
      </p:sp>
      <p:sp>
        <p:nvSpPr>
          <p:cNvPr id="21" name="method-desc-2">
            <a:extLst xmlns:a="http://schemas.openxmlformats.org/drawingml/2006/main">
              <a:ext uri="{FF2B5EF4-FFF2-40B4-BE49-F238E27FC236}">
                <a16:creationId xmlns:a16="http://schemas.microsoft.com/office/drawing/2014/main" id="{113814E3-CA94-4878-B999-265839E2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700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Fixed rules assign customers to Champions, Loyal, At risk or New &amp; occasional.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8B6C0-4791-4147-B5EA-8862CE99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23" name="method-num-3">
            <a:extLst xmlns:a="http://schemas.openxmlformats.org/drawingml/2006/main">
              <a:ext uri="{FF2B5EF4-FFF2-40B4-BE49-F238E27FC236}">
                <a16:creationId xmlns:a16="http://schemas.microsoft.com/office/drawing/2014/main" id="{A8B37632-0DAC-4477-B5DA-AFABBAF3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method-name-3">
            <a:extLst xmlns:a="http://schemas.openxmlformats.org/drawingml/2006/main">
              <a:ext uri="{FF2B5EF4-FFF2-40B4-BE49-F238E27FC236}">
                <a16:creationId xmlns:a16="http://schemas.microsoft.com/office/drawing/2014/main" id="{FF472EDD-DFB7-4885-86E7-D176D592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Category pairs</a:t>
            </a:r>
          </a:p>
        </p:txBody>
      </p:sp>
      <p:sp>
        <p:nvSpPr>
          <p:cNvPr id="25" name="method-formula-3">
            <a:extLst xmlns:a="http://schemas.openxmlformats.org/drawingml/2006/main">
              <a:ext uri="{FF2B5EF4-FFF2-40B4-BE49-F238E27FC236}">
                <a16:creationId xmlns:a16="http://schemas.microsoft.com/office/drawing/2014/main" id="{2AC37F73-162B-423A-92CB-F1B474D6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700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303944"/>
                </a:solidFill>
                <a:latin typeface="Georgia"/>
                <a:ea typeface="Georgia"/>
                <a:cs typeface="Georgia"/>
              </a:rPr>
              <a:t>distinct categories per order → pair counts</a:t>
            </a:r>
          </a:p>
        </p:txBody>
      </p:sp>
      <p:sp>
        <p:nvSpPr>
          <p:cNvPr id="26" name="method-desc-3">
            <a:extLst xmlns:a="http://schemas.openxmlformats.org/drawingml/2006/main">
              <a:ext uri="{FF2B5EF4-FFF2-40B4-BE49-F238E27FC236}">
                <a16:creationId xmlns:a16="http://schemas.microsoft.com/office/drawing/2014/main" id="{A13FBF76-314B-43B8-880B-4D2A0634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38725"/>
            <a:ext cx="700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Each pair is counted once per order; counts do not establish causation.</a:t>
            </a:r>
          </a:p>
        </p:txBody>
      </p:sp>
      <p:sp>
        <p:nvSpPr>
          <p:cNvPr id="27" name="client-side-note">
            <a:extLst xmlns:a="http://schemas.openxmlformats.org/drawingml/2006/main">
              <a:ext uri="{FF2B5EF4-FFF2-40B4-BE49-F238E27FC236}">
                <a16:creationId xmlns:a16="http://schemas.microsoft.com/office/drawing/2014/main" id="{AF6BECA7-471C-4EA9-9D92-594FF58E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Processing: CSV rows → browser calculations → charts and tables → filtered CSV export</a:t>
            </a:r>
          </a:p>
        </p:txBody>
      </p:sp>
    </p:spTree>
    <p:extLst>
      <p:ext uri="{BB962C8B-B14F-4D97-AF65-F5344CB8AC3E}">
        <p14:creationId xmlns:p14="http://schemas.microsoft.com/office/powerpoint/2010/main" val="224414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64489C2-1C63-416B-9987-8D2FFE9A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SALES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AF1076-F910-4103-8427-728CF609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Net revenue varies across the sample period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E01948-BDB8-457D-8947-B329FE7B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Monthly net revenue in USD; the first and last October are partial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182C3-18BA-4490-A2C3-76BD66AA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7F496-E5DA-46E2-8B14-F054BE73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BF50B410-40AE-4EEA-9CF9-80CD2F44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9334A9D-9F1E-467B-AD1E-37B7B36C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0A21A1F-19A6-4E66-86C6-45C8F1EA99DA}"/>
              </a:ext>
            </a:extLst>
          </p:cNvPr>
          <p:cNvGraphicFramePr/>
          <p:nvPr/>
        </p:nvGraphicFramePr>
        <p:xfrm>
          <a:off xmlns:a="http://schemas.openxmlformats.org/drawingml/2006/main" x="685800" y="1743075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6cb2a8f196410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1C5AE-FD81-424D-8B84-E40BD69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19275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10" name="sales-stat-0">
            <a:extLst xmlns:a="http://schemas.openxmlformats.org/drawingml/2006/main">
              <a:ext uri="{FF2B5EF4-FFF2-40B4-BE49-F238E27FC236}">
                <a16:creationId xmlns:a16="http://schemas.microsoft.com/office/drawing/2014/main" id="{FD8887D3-EB31-4A0B-B171-94C32E8C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90725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$232,083</a:t>
            </a:r>
          </a:p>
        </p:txBody>
      </p:sp>
      <p:sp>
        <p:nvSpPr>
          <p:cNvPr id="11" name="sales-stat-label-0">
            <a:extLst xmlns:a="http://schemas.openxmlformats.org/drawingml/2006/main">
              <a:ext uri="{FF2B5EF4-FFF2-40B4-BE49-F238E27FC236}">
                <a16:creationId xmlns:a16="http://schemas.microsoft.com/office/drawing/2014/main" id="{14124C4B-4873-4DB3-A31C-E4F0FB54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0507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net revenue after discounts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659B9-2AE2-4C95-9B8C-5201CFFB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337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3" name="sales-stat-1">
            <a:extLst xmlns:a="http://schemas.openxmlformats.org/drawingml/2006/main">
              <a:ext uri="{FF2B5EF4-FFF2-40B4-BE49-F238E27FC236}">
                <a16:creationId xmlns:a16="http://schemas.microsoft.com/office/drawing/2014/main" id="{48F1E6F4-4385-462C-B189-EB15B46E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71825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$96.70</a:t>
            </a:r>
          </a:p>
        </p:txBody>
      </p:sp>
      <p:sp>
        <p:nvSpPr>
          <p:cNvPr id="14" name="sales-stat-label-1">
            <a:extLst xmlns:a="http://schemas.openxmlformats.org/drawingml/2006/main">
              <a:ext uri="{FF2B5EF4-FFF2-40B4-BE49-F238E27FC236}">
                <a16:creationId xmlns:a16="http://schemas.microsoft.com/office/drawing/2014/main" id="{B232AB61-50B6-4E19-9615-E6F84212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8617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average order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150DA-32AB-41D3-BCCA-8FD4C284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148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6" name="sales-stat-2">
            <a:extLst xmlns:a="http://schemas.openxmlformats.org/drawingml/2006/main">
              <a:ext uri="{FF2B5EF4-FFF2-40B4-BE49-F238E27FC236}">
                <a16:creationId xmlns:a16="http://schemas.microsoft.com/office/drawing/2014/main" id="{F55D4C81-7661-43AD-9DF1-B2211CD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52925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90.7%</a:t>
            </a:r>
          </a:p>
        </p:txBody>
      </p:sp>
      <p:sp>
        <p:nvSpPr>
          <p:cNvPr id="17" name="sales-stat-label-2">
            <a:extLst xmlns:a="http://schemas.openxmlformats.org/drawingml/2006/main">
              <a:ext uri="{FF2B5EF4-FFF2-40B4-BE49-F238E27FC236}">
                <a16:creationId xmlns:a16="http://schemas.microsoft.com/office/drawing/2014/main" id="{E71D0259-2EDB-4EE7-BF41-E869551A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67275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customer IDs with more than one order</a:t>
            </a:r>
          </a:p>
        </p:txBody>
      </p:sp>
      <p:sp>
        <p:nvSpPr>
          <p:cNvPr id="18" name="sales-data-note">
            <a:extLst xmlns:a="http://schemas.openxmlformats.org/drawingml/2006/main">
              <a:ext uri="{FF2B5EF4-FFF2-40B4-BE49-F238E27FC236}">
                <a16:creationId xmlns:a16="http://schemas.microsoft.com/office/drawing/2014/main" id="{0FC2B571-71DE-4D04-B53D-F4FA4007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667183"/>
                </a:solidFill>
                <a:latin typeface="Arial"/>
                <a:ea typeface="Arial"/>
                <a:cs typeface="Arial"/>
              </a:rPr>
              <a:t>Sample figures only; not observed retail sales.</a:t>
            </a:r>
          </a:p>
        </p:txBody>
      </p:sp>
    </p:spTree>
    <p:extLst>
      <p:ext uri="{BB962C8B-B14F-4D97-AF65-F5344CB8AC3E}">
        <p14:creationId xmlns:p14="http://schemas.microsoft.com/office/powerpoint/2010/main" val="720923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D636DEF-8B39-4871-9DC3-3900EAFA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PRODUCT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16FF69-FF9E-4CD7-AFFD-4B935FA4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Electronics leads the sample revenue mix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EE8F4D-EE21-45CB-8945-3A42F23E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Category totals are net revenue after discounts; the product list ranks the top five by net revenue.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BEEF6-743D-454A-AE0D-8B36ED78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4B07B-D6D5-4373-BE0C-C0E960DC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9EE25284-9A9A-4165-B907-0A79BC89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60BBCE9-6EC2-485A-A4E4-4886FC4D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8658A9BF-3034-4890-94F8-8FADE7C95025}"/>
              </a:ext>
            </a:extLst>
          </p:cNvPr>
          <p:cNvGraphicFramePr/>
          <p:nvPr/>
        </p:nvGraphicFramePr>
        <p:xfrm>
          <a:off xmlns:a="http://schemas.openxmlformats.org/drawingml/2006/main" x="590550" y="1790700"/>
          <a:ext xmlns:a="http://schemas.openxmlformats.org/drawingml/2006/main" cx="619125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61f33c66434e4a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7E25F-9697-461B-ABA0-624090C6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907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10" name="top-products-label">
            <a:extLst xmlns:a="http://schemas.openxmlformats.org/drawingml/2006/main">
              <a:ext uri="{FF2B5EF4-FFF2-40B4-BE49-F238E27FC236}">
                <a16:creationId xmlns:a16="http://schemas.microsoft.com/office/drawing/2014/main" id="{41C47CF5-B5C8-41D7-BA07-B589EB8F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09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TOP PRODUCTS</a:t>
            </a:r>
          </a:p>
        </p:txBody>
      </p:sp>
      <p:sp>
        <p:nvSpPr>
          <p:cNvPr id="11" name="products-column-label">
            <a:extLst xmlns:a="http://schemas.openxmlformats.org/drawingml/2006/main">
              <a:ext uri="{FF2B5EF4-FFF2-40B4-BE49-F238E27FC236}">
                <a16:creationId xmlns:a16="http://schemas.microsoft.com/office/drawing/2014/main" id="{5D7978D6-6169-472D-90F8-F57BEC13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145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PRODUCT  /  CATEGORY</a:t>
            </a:r>
          </a:p>
        </p:txBody>
      </p:sp>
      <p:sp>
        <p:nvSpPr>
          <p:cNvPr id="12" name="revenue-column-label">
            <a:extLst xmlns:a="http://schemas.openxmlformats.org/drawingml/2006/main">
              <a:ext uri="{FF2B5EF4-FFF2-40B4-BE49-F238E27FC236}">
                <a16:creationId xmlns:a16="http://schemas.microsoft.com/office/drawing/2014/main" id="{1D39ECD1-650B-48E8-B72E-F385C8F2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NET REVENUE</a:t>
            </a:r>
          </a:p>
        </p:txBody>
      </p:sp>
      <p:sp>
        <p:nvSpPr>
          <p:cNvPr id="13" name="product-name-0">
            <a:extLst xmlns:a="http://schemas.openxmlformats.org/drawingml/2006/main">
              <a:ext uri="{FF2B5EF4-FFF2-40B4-BE49-F238E27FC236}">
                <a16:creationId xmlns:a16="http://schemas.microsoft.com/office/drawing/2014/main" id="{9A4D058C-47BA-4FBE-9F7E-B38C282E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669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Smart Watch</a:t>
            </a:r>
          </a:p>
        </p:txBody>
      </p:sp>
      <p:sp>
        <p:nvSpPr>
          <p:cNvPr id="14" name="product-category-0">
            <a:extLst xmlns:a="http://schemas.openxmlformats.org/drawingml/2006/main">
              <a:ext uri="{FF2B5EF4-FFF2-40B4-BE49-F238E27FC236}">
                <a16:creationId xmlns:a16="http://schemas.microsoft.com/office/drawing/2014/main" id="{0EA5F304-F69A-4983-BCDC-CF430743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Electronics</a:t>
            </a:r>
          </a:p>
        </p:txBody>
      </p:sp>
      <p:sp>
        <p:nvSpPr>
          <p:cNvPr id="15" name="product-revenue-0">
            <a:extLst xmlns:a="http://schemas.openxmlformats.org/drawingml/2006/main">
              <a:ext uri="{FF2B5EF4-FFF2-40B4-BE49-F238E27FC236}">
                <a16:creationId xmlns:a16="http://schemas.microsoft.com/office/drawing/2014/main" id="{5DCF741B-B537-4572-9F07-4543EAD3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050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$25,440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E6EFB-C6B6-44B9-B35F-1A60ECA5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71800"/>
            <a:ext cx="389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7" name="product-name-1">
            <a:extLst xmlns:a="http://schemas.openxmlformats.org/drawingml/2006/main">
              <a:ext uri="{FF2B5EF4-FFF2-40B4-BE49-F238E27FC236}">
                <a16:creationId xmlns:a16="http://schemas.microsoft.com/office/drawing/2014/main" id="{76359C23-CF8B-457A-8677-8FCD9455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765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Classic Sneakers</a:t>
            </a:r>
          </a:p>
        </p:txBody>
      </p:sp>
      <p:sp>
        <p:nvSpPr>
          <p:cNvPr id="18" name="product-category-1">
            <a:extLst xmlns:a="http://schemas.openxmlformats.org/drawingml/2006/main">
              <a:ext uri="{FF2B5EF4-FFF2-40B4-BE49-F238E27FC236}">
                <a16:creationId xmlns:a16="http://schemas.microsoft.com/office/drawing/2014/main" id="{A2ADDFA9-E9F6-4CCC-B14A-A6B7EEB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242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Fashion</a:t>
            </a:r>
          </a:p>
        </p:txBody>
      </p:sp>
      <p:sp>
        <p:nvSpPr>
          <p:cNvPr id="19" name="product-revenue-1">
            <a:extLst xmlns:a="http://schemas.openxmlformats.org/drawingml/2006/main">
              <a:ext uri="{FF2B5EF4-FFF2-40B4-BE49-F238E27FC236}">
                <a16:creationId xmlns:a16="http://schemas.microsoft.com/office/drawing/2014/main" id="{D88A6780-01F5-4C48-8E55-EB6FEAD6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146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$18,510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770FC-957B-4470-8A04-C702CACD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81400"/>
            <a:ext cx="389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21" name="product-name-2">
            <a:extLst xmlns:a="http://schemas.openxmlformats.org/drawingml/2006/main">
              <a:ext uri="{FF2B5EF4-FFF2-40B4-BE49-F238E27FC236}">
                <a16:creationId xmlns:a16="http://schemas.microsoft.com/office/drawing/2014/main" id="{8E465642-322F-4B99-B20A-4458BD70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861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Crossbody Bag</a:t>
            </a:r>
          </a:p>
        </p:txBody>
      </p:sp>
      <p:sp>
        <p:nvSpPr>
          <p:cNvPr id="22" name="product-category-2">
            <a:extLst xmlns:a="http://schemas.openxmlformats.org/drawingml/2006/main">
              <a:ext uri="{FF2B5EF4-FFF2-40B4-BE49-F238E27FC236}">
                <a16:creationId xmlns:a16="http://schemas.microsoft.com/office/drawing/2014/main" id="{BE8E4542-8B2F-4CA4-AF57-FCF21121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Fashion</a:t>
            </a:r>
          </a:p>
        </p:txBody>
      </p:sp>
      <p:sp>
        <p:nvSpPr>
          <p:cNvPr id="23" name="product-revenue-2">
            <a:extLst xmlns:a="http://schemas.openxmlformats.org/drawingml/2006/main">
              <a:ext uri="{FF2B5EF4-FFF2-40B4-BE49-F238E27FC236}">
                <a16:creationId xmlns:a16="http://schemas.microsoft.com/office/drawing/2014/main" id="{CD8F6277-0C6C-46DA-9B74-35D6382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242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$15,571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C2CA6-83BF-4EE2-A99C-1F2F014C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91000"/>
            <a:ext cx="389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25" name="product-name-3">
            <a:extLst xmlns:a="http://schemas.openxmlformats.org/drawingml/2006/main">
              <a:ext uri="{FF2B5EF4-FFF2-40B4-BE49-F238E27FC236}">
                <a16:creationId xmlns:a16="http://schemas.microsoft.com/office/drawing/2014/main" id="{2B804E7C-AF2C-46E4-A296-C46ADEC4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957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Wireless Earbuds</a:t>
            </a:r>
          </a:p>
        </p:txBody>
      </p:sp>
      <p:sp>
        <p:nvSpPr>
          <p:cNvPr id="26" name="product-category-3">
            <a:extLst xmlns:a="http://schemas.openxmlformats.org/drawingml/2006/main">
              <a:ext uri="{FF2B5EF4-FFF2-40B4-BE49-F238E27FC236}">
                <a16:creationId xmlns:a16="http://schemas.microsoft.com/office/drawing/2014/main" id="{0FDEDFA2-5866-42C2-BB5C-F1962869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434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Electronics</a:t>
            </a:r>
          </a:p>
        </p:txBody>
      </p:sp>
      <p:sp>
        <p:nvSpPr>
          <p:cNvPr id="27" name="product-revenue-3">
            <a:extLst xmlns:a="http://schemas.openxmlformats.org/drawingml/2006/main">
              <a:ext uri="{FF2B5EF4-FFF2-40B4-BE49-F238E27FC236}">
                <a16:creationId xmlns:a16="http://schemas.microsoft.com/office/drawing/2014/main" id="{E5EBA3D7-62E2-4076-B3B9-4C269FDC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338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$14,811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92740-A308-42A1-9D21-F227AE5F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00600"/>
            <a:ext cx="389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29" name="product-name-4">
            <a:extLst xmlns:a="http://schemas.openxmlformats.org/drawingml/2006/main">
              <a:ext uri="{FF2B5EF4-FFF2-40B4-BE49-F238E27FC236}">
                <a16:creationId xmlns:a16="http://schemas.microsoft.com/office/drawing/2014/main" id="{AE1DF97C-1759-40A0-AF34-6B7B8DA5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9053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Day Hike Pack</a:t>
            </a:r>
          </a:p>
        </p:txBody>
      </p:sp>
      <p:sp>
        <p:nvSpPr>
          <p:cNvPr id="30" name="product-category-4">
            <a:extLst xmlns:a="http://schemas.openxmlformats.org/drawingml/2006/main">
              <a:ext uri="{FF2B5EF4-FFF2-40B4-BE49-F238E27FC236}">
                <a16:creationId xmlns:a16="http://schemas.microsoft.com/office/drawing/2014/main" id="{E441B312-E957-44C4-9F56-D414119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530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Sports &amp; Outdoors</a:t>
            </a:r>
          </a:p>
        </p:txBody>
      </p:sp>
      <p:sp>
        <p:nvSpPr>
          <p:cNvPr id="31" name="product-revenue-4">
            <a:extLst xmlns:a="http://schemas.openxmlformats.org/drawingml/2006/main">
              <a:ext uri="{FF2B5EF4-FFF2-40B4-BE49-F238E27FC236}">
                <a16:creationId xmlns:a16="http://schemas.microsoft.com/office/drawing/2014/main" id="{0864F539-2D95-456A-BBD8-A1C19FA1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434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$14,487</a:t>
            </a:r>
          </a:p>
        </p:txBody>
      </p:sp>
      <p:sp>
        <p:nvSpPr>
          <p:cNvPr id="32" name="category-insight">
            <a:extLst xmlns:a="http://schemas.openxmlformats.org/drawingml/2006/main">
              <a:ext uri="{FF2B5EF4-FFF2-40B4-BE49-F238E27FC236}">
                <a16:creationId xmlns:a16="http://schemas.microsoft.com/office/drawing/2014/main" id="{041CA6D9-0364-4C02-8622-C96E520F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Electronics contributes 28.3% of sample net revenue; Fashion contributes 26.9%.</a:t>
            </a:r>
          </a:p>
        </p:txBody>
      </p:sp>
    </p:spTree>
    <p:extLst>
      <p:ext uri="{BB962C8B-B14F-4D97-AF65-F5344CB8AC3E}">
        <p14:creationId xmlns:p14="http://schemas.microsoft.com/office/powerpoint/2010/main" val="1479623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3F371BF-9BA4-46DC-B0F3-65434E37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CUSTOMER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65BFEF-3E41-4BF0-A186-0773B753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RFM groups describe purchase history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59BFAD-C989-48A4-8D6A-A4B61B75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Counts show how the fixed rules classify the 632 customer IDs in the synthetic sample.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F6172-7780-4C85-ABEF-A5AB4F2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6FF55-8031-4F23-A39E-D0A532E0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996FAC0D-6B96-47B6-B92C-E2C673E4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F37B613-E4E5-4D1B-8F07-871429DA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E9E3F241-B782-4989-B09F-7D8E65B1D777}"/>
              </a:ext>
            </a:extLst>
          </p:cNvPr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5905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5150dbec88421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21700-94CC-4548-8DFE-D5A3D697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10" name="rfm-rules-heading">
            <a:extLst xmlns:a="http://schemas.openxmlformats.org/drawingml/2006/main">
              <a:ext uri="{FF2B5EF4-FFF2-40B4-BE49-F238E27FC236}">
                <a16:creationId xmlns:a16="http://schemas.microsoft.com/office/drawing/2014/main" id="{C7D5D8F0-618D-4A12-9844-409F555E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FIXED ASSIGNMENT RULES</a:t>
            </a:r>
          </a:p>
        </p:txBody>
      </p:sp>
      <p:sp>
        <p:nvSpPr>
          <p:cNvPr id="11" name="rfm-rule-name-0">
            <a:extLst xmlns:a="http://schemas.openxmlformats.org/drawingml/2006/main">
              <a:ext uri="{FF2B5EF4-FFF2-40B4-BE49-F238E27FC236}">
                <a16:creationId xmlns:a16="http://schemas.microsoft.com/office/drawing/2014/main" id="{AAC72036-4B45-4DAC-BE7E-D8AEC7A2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Champions</a:t>
            </a:r>
          </a:p>
        </p:txBody>
      </p:sp>
      <p:sp>
        <p:nvSpPr>
          <p:cNvPr id="12" name="rfm-rule-desc-0">
            <a:extLst xmlns:a="http://schemas.openxmlformats.org/drawingml/2006/main">
              <a:ext uri="{FF2B5EF4-FFF2-40B4-BE49-F238E27FC236}">
                <a16:creationId xmlns:a16="http://schemas.microsoft.com/office/drawing/2014/main" id="{4652C956-A729-4DB8-917A-5892975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6697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4+ orders and last purchase within 60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9C349-5EF7-4A9A-8703-86902AE3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4" name="rfm-rule-name-1">
            <a:extLst xmlns:a="http://schemas.openxmlformats.org/drawingml/2006/main">
              <a:ext uri="{FF2B5EF4-FFF2-40B4-BE49-F238E27FC236}">
                <a16:creationId xmlns:a16="http://schemas.microsoft.com/office/drawing/2014/main" id="{6AD6E8E4-DA20-468D-A48E-47873E53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43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Loyal</a:t>
            </a:r>
          </a:p>
        </p:txBody>
      </p:sp>
      <p:sp>
        <p:nvSpPr>
          <p:cNvPr id="15" name="rfm-rule-desc-1">
            <a:extLst xmlns:a="http://schemas.openxmlformats.org/drawingml/2006/main">
              <a:ext uri="{FF2B5EF4-FFF2-40B4-BE49-F238E27FC236}">
                <a16:creationId xmlns:a16="http://schemas.microsoft.com/office/drawing/2014/main" id="{6EC0F634-A88D-4C11-8B87-0F1EE2D3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3+ orders after the Champions rule is checked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99D94-D5C8-4173-83A5-6D61A633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5282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7" name="rfm-rule-name-2">
            <a:extLst xmlns:a="http://schemas.openxmlformats.org/drawingml/2006/main">
              <a:ext uri="{FF2B5EF4-FFF2-40B4-BE49-F238E27FC236}">
                <a16:creationId xmlns:a16="http://schemas.microsoft.com/office/drawing/2014/main" id="{16693318-0988-483F-83BE-E5779AB5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At risk</a:t>
            </a:r>
          </a:p>
        </p:txBody>
      </p:sp>
      <p:sp>
        <p:nvSpPr>
          <p:cNvPr id="18" name="rfm-rule-desc-2">
            <a:extLst xmlns:a="http://schemas.openxmlformats.org/drawingml/2006/main">
              <a:ext uri="{FF2B5EF4-FFF2-40B4-BE49-F238E27FC236}">
                <a16:creationId xmlns:a16="http://schemas.microsoft.com/office/drawing/2014/main" id="{CD8F0779-E2EF-4AF9-AB34-AC4A0B70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1477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2+ orders and no purchase in the last 120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BDA52-06E5-490F-84FD-FE10450E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7672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20" name="rfm-rule-name-3">
            <a:extLst xmlns:a="http://schemas.openxmlformats.org/drawingml/2006/main">
              <a:ext uri="{FF2B5EF4-FFF2-40B4-BE49-F238E27FC236}">
                <a16:creationId xmlns:a16="http://schemas.microsoft.com/office/drawing/2014/main" id="{EBF0B72E-9AB0-46C8-BBE0-D96ED39D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New &amp; occasional</a:t>
            </a:r>
          </a:p>
        </p:txBody>
      </p:sp>
      <p:sp>
        <p:nvSpPr>
          <p:cNvPr id="21" name="rfm-rule-desc-3">
            <a:extLst xmlns:a="http://schemas.openxmlformats.org/drawingml/2006/main">
              <a:ext uri="{FF2B5EF4-FFF2-40B4-BE49-F238E27FC236}">
                <a16:creationId xmlns:a16="http://schemas.microsoft.com/office/drawing/2014/main" id="{FE493AE9-EDE7-43CA-B67B-C089D75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All other customers in the selected records</a:t>
            </a:r>
          </a:p>
        </p:txBody>
      </p:sp>
      <p:sp>
        <p:nvSpPr>
          <p:cNvPr id="22" name="rfm-summary">
            <a:extLst xmlns:a="http://schemas.openxmlformats.org/drawingml/2006/main">
              <a:ext uri="{FF2B5EF4-FFF2-40B4-BE49-F238E27FC236}">
                <a16:creationId xmlns:a16="http://schemas.microsoft.com/office/drawing/2014/main" id="{A47154AF-A5DC-49E6-86BD-5FAEFD61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470 of 632 customers are in the Champions or Loyal groups.</a:t>
            </a:r>
          </a:p>
        </p:txBody>
      </p:sp>
    </p:spTree>
    <p:extLst>
      <p:ext uri="{BB962C8B-B14F-4D97-AF65-F5344CB8AC3E}">
        <p14:creationId xmlns:p14="http://schemas.microsoft.com/office/powerpoint/2010/main" val="725436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B558431-0CBF-4DFF-9279-196A9CD4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BASKET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F8F1B4-1AAE-4DE8-A050-8E580046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Category pairs show what shares an order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1BBC57B-3131-419D-8C1F-95C3B878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The chart ranks the five most frequent category pairs in the generated sample.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6BF5D-3262-4840-9E5C-DBD68B49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22F59-A81F-4536-8347-0718757C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162B2A21-62A0-4231-805E-786D9AEF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0075BE-5F29-4774-92C3-73B79715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4E5561DC-E4E7-49D3-A216-46B038E565C0}"/>
              </a:ext>
            </a:extLst>
          </p:cNvPr>
          <p:cNvGraphicFramePr/>
          <p:nvPr/>
        </p:nvGraphicFramePr>
        <p:xfrm>
          <a:off xmlns:a="http://schemas.openxmlformats.org/drawingml/2006/main" x="590550" y="1790700"/>
          <a:ext xmlns:a="http://schemas.openxmlformats.org/drawingml/2006/main" cx="66675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f89fd623f24a7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7088C-674D-4C13-A2EF-ED7EF582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10" name="basket-stat-label">
            <a:extLst xmlns:a="http://schemas.openxmlformats.org/drawingml/2006/main">
              <a:ext uri="{FF2B5EF4-FFF2-40B4-BE49-F238E27FC236}">
                <a16:creationId xmlns:a16="http://schemas.microsoft.com/office/drawing/2014/main" id="{925F395E-F4D2-41BD-BB65-B19CEAC4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478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MULTI-CATEGORY ORDERS</a:t>
            </a:r>
          </a:p>
        </p:txBody>
      </p:sp>
      <p:sp>
        <p:nvSpPr>
          <p:cNvPr id="11" name="basket-stat">
            <a:extLst xmlns:a="http://schemas.openxmlformats.org/drawingml/2006/main">
              <a:ext uri="{FF2B5EF4-FFF2-40B4-BE49-F238E27FC236}">
                <a16:creationId xmlns:a16="http://schemas.microsoft.com/office/drawing/2014/main" id="{AC0DE93D-A9BE-46B2-A66F-9D8B9F03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71700"/>
            <a:ext cx="328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1,376</a:t>
            </a:r>
          </a:p>
        </p:txBody>
      </p:sp>
      <p:sp>
        <p:nvSpPr>
          <p:cNvPr id="12" name="basket-share">
            <a:extLst xmlns:a="http://schemas.openxmlformats.org/drawingml/2006/main">
              <a:ext uri="{FF2B5EF4-FFF2-40B4-BE49-F238E27FC236}">
                <a16:creationId xmlns:a16="http://schemas.microsoft.com/office/drawing/2014/main" id="{672E0EED-2F81-4A69-963F-C753A58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479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57.3% of all sample 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AF8A6-DAFD-4FCC-AADD-D352044A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718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4" name="basket-interpretation-title">
            <a:extLst xmlns:a="http://schemas.openxmlformats.org/drawingml/2006/main">
              <a:ext uri="{FF2B5EF4-FFF2-40B4-BE49-F238E27FC236}">
                <a16:creationId xmlns:a16="http://schemas.microsoft.com/office/drawing/2014/main" id="{762DF059-57AB-4CDD-99A7-FB284ABD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7187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How to read this</a:t>
            </a:r>
          </a:p>
        </p:txBody>
      </p:sp>
      <p:sp>
        <p:nvSpPr>
          <p:cNvPr id="15" name="basket-interpretation">
            <a:extLst xmlns:a="http://schemas.openxmlformats.org/drawingml/2006/main">
              <a:ext uri="{FF2B5EF4-FFF2-40B4-BE49-F238E27FC236}">
                <a16:creationId xmlns:a16="http://schemas.microsoft.com/office/drawing/2014/main" id="{121C7097-2BB5-49AA-A159-7D18E9A4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05250"/>
            <a:ext cx="3286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Pairs count when both categories occur in one order. The largest pair appears in 240 orders (10.0%). Co-occurrence can suggest a merchandising test; it does not prove one item caused another purchase.</a:t>
            </a:r>
          </a:p>
        </p:txBody>
      </p:sp>
      <p:sp>
        <p:nvSpPr>
          <p:cNvPr id="16" name="basket-caveat">
            <a:extLst xmlns:a="http://schemas.openxmlformats.org/drawingml/2006/main">
              <a:ext uri="{FF2B5EF4-FFF2-40B4-BE49-F238E27FC236}">
                <a16:creationId xmlns:a16="http://schemas.microsoft.com/office/drawing/2014/main" id="{B97E075A-1D74-4239-A607-CB49F7F7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102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67183"/>
                </a:solidFill>
                <a:latin typeface="Arial"/>
                <a:ea typeface="Arial"/>
                <a:cs typeface="Arial"/>
              </a:rPr>
              <a:t>The prototype does not calculate support, confidence or lift.</a:t>
            </a:r>
          </a:p>
        </p:txBody>
      </p:sp>
    </p:spTree>
    <p:extLst>
      <p:ext uri="{BB962C8B-B14F-4D97-AF65-F5344CB8AC3E}">
        <p14:creationId xmlns:p14="http://schemas.microsoft.com/office/powerpoint/2010/main" val="1598169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7EB6D1-D97A-4422-8FBC-1EAF02F8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1EEA27-DC92-4678-8F21-76C01929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One workspace connects the analysis views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1A36E0-ADCF-4263-AD46-64DE7B48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This screenshot is from the working CommerceLens dashboard included in the submission package.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A48CF-A3F6-41DE-A3AE-DDCF7840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7F9F1-E169-4414-81F7-AD6EA272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B6E37C85-CA10-41CE-A11F-58CB78DB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F760A5A-5F6B-4C88-8CF9-69BEF4F1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7ED8C-457F-49A5-B6BE-37DF2E8E95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d9768b4a45d4"/>
          <a:stretch xmlns:a="http://schemas.openxmlformats.org/drawingml/2006/main"/>
        </p:blipFill>
        <p:spPr>
          <a:xfrm xmlns:a="http://schemas.openxmlformats.org/drawingml/2006/main">
            <a:off x="742950" y="1743075"/>
            <a:ext cx="10706100" cy="2990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0A649-3040-4A65-8390-A4A333BC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10" name="app-feature-label-0">
            <a:extLst xmlns:a="http://schemas.openxmlformats.org/drawingml/2006/main">
              <a:ext uri="{FF2B5EF4-FFF2-40B4-BE49-F238E27FC236}">
                <a16:creationId xmlns:a16="http://schemas.microsoft.com/office/drawing/2014/main" id="{3DDDBDFD-B516-49E8-8223-16EF2EAF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1" name="app-feature-desc-0">
            <a:extLst xmlns:a="http://schemas.openxmlformats.org/drawingml/2006/main">
              <a:ext uri="{FF2B5EF4-FFF2-40B4-BE49-F238E27FC236}">
                <a16:creationId xmlns:a16="http://schemas.microsoft.com/office/drawing/2014/main" id="{B67B4F22-8074-43AB-B520-2AE47955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Choose a rolling date range and product category.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BFA3A-46E4-4166-B91F-6C86851B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911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3" name="app-feature-label-1">
            <a:extLst xmlns:a="http://schemas.openxmlformats.org/drawingml/2006/main">
              <a:ext uri="{FF2B5EF4-FFF2-40B4-BE49-F238E27FC236}">
                <a16:creationId xmlns:a16="http://schemas.microsoft.com/office/drawing/2014/main" id="{F95451CA-1CFA-4A34-99F4-2EE4235F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197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IMPORT</a:t>
            </a:r>
          </a:p>
        </p:txBody>
      </p:sp>
      <p:sp>
        <p:nvSpPr>
          <p:cNvPr id="14" name="app-feature-desc-1">
            <a:extLst xmlns:a="http://schemas.openxmlformats.org/drawingml/2006/main">
              <a:ext uri="{FF2B5EF4-FFF2-40B4-BE49-F238E27FC236}">
                <a16:creationId xmlns:a16="http://schemas.microsoft.com/office/drawing/2014/main" id="{88076D2F-C900-4362-87B4-9FE25907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959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Load a compatible item-level CSV locally.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35DD5-9736-4F7E-9B73-802D787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911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6" name="app-feature-label-2">
            <a:extLst xmlns:a="http://schemas.openxmlformats.org/drawingml/2006/main">
              <a:ext uri="{FF2B5EF4-FFF2-40B4-BE49-F238E27FC236}">
                <a16:creationId xmlns:a16="http://schemas.microsoft.com/office/drawing/2014/main" id="{9480B9EB-345E-409B-A47A-1B31BC4C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17" name="app-feature-desc-2">
            <a:extLst xmlns:a="http://schemas.openxmlformats.org/drawingml/2006/main">
              <a:ext uri="{FF2B5EF4-FFF2-40B4-BE49-F238E27FC236}">
                <a16:creationId xmlns:a16="http://schemas.microsoft.com/office/drawing/2014/main" id="{065C7EF7-520E-46AB-BE95-E2AFAE77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959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Download the currently filtered records.</a:t>
            </a:r>
          </a:p>
        </p:txBody>
      </p:sp>
    </p:spTree>
    <p:extLst>
      <p:ext uri="{BB962C8B-B14F-4D97-AF65-F5344CB8AC3E}">
        <p14:creationId xmlns:p14="http://schemas.microsoft.com/office/powerpoint/2010/main" val="21248281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A838E8C-211C-4C8A-8F06-3557B0F9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3329AC-B161-4ED6-8C80-70BCC197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The sample reveals patterns to investigate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CC727B-0232-4FB6-9CB7-3EB53BB4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These are observations about generated records, not conclusions about a real store.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1D745-B2E2-4108-8011-23065C86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7FC5E-9E8F-457D-A9F1-22A31037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255E4053-8008-4590-A697-AF2D7EC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E76342-F8FA-490F-859A-5FE51C37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finding-number-0">
            <a:extLst xmlns:a="http://schemas.openxmlformats.org/drawingml/2006/main">
              <a:ext uri="{FF2B5EF4-FFF2-40B4-BE49-F238E27FC236}">
                <a16:creationId xmlns:a16="http://schemas.microsoft.com/office/drawing/2014/main" id="{C1AA8345-57A2-48EC-975B-C2069BAB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finding-title-0">
            <a:extLst xmlns:a="http://schemas.openxmlformats.org/drawingml/2006/main">
              <a:ext uri="{FF2B5EF4-FFF2-40B4-BE49-F238E27FC236}">
                <a16:creationId xmlns:a16="http://schemas.microsoft.com/office/drawing/2014/main" id="{A83E1ED2-653B-4987-AB52-C4BBCAE5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192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Category concentration</a:t>
            </a:r>
          </a:p>
        </p:txBody>
      </p:sp>
      <p:sp>
        <p:nvSpPr>
          <p:cNvPr id="10" name="finding-body-0">
            <a:extLst xmlns:a="http://schemas.openxmlformats.org/drawingml/2006/main">
              <a:ext uri="{FF2B5EF4-FFF2-40B4-BE49-F238E27FC236}">
                <a16:creationId xmlns:a16="http://schemas.microsoft.com/office/drawing/2014/main" id="{0869C85A-918C-48A1-AD5F-BE5938FB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Electronics is the leading category at $65,702 (28.3% of sample revenue).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AB1A0-C5D8-4DE4-A5DD-28503DD7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14625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2" name="finding-number-1">
            <a:extLst xmlns:a="http://schemas.openxmlformats.org/drawingml/2006/main">
              <a:ext uri="{FF2B5EF4-FFF2-40B4-BE49-F238E27FC236}">
                <a16:creationId xmlns:a16="http://schemas.microsoft.com/office/drawing/2014/main" id="{98BBA13E-54DE-4D73-88EC-C94ACDA7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finding-title-1">
            <a:extLst xmlns:a="http://schemas.openxmlformats.org/drawingml/2006/main">
              <a:ext uri="{FF2B5EF4-FFF2-40B4-BE49-F238E27FC236}">
                <a16:creationId xmlns:a16="http://schemas.microsoft.com/office/drawing/2014/main" id="{6CC48934-ED2D-49F5-BB87-F0DD898A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860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Repeat purchasing</a:t>
            </a:r>
          </a:p>
        </p:txBody>
      </p:sp>
      <p:sp>
        <p:nvSpPr>
          <p:cNvPr id="14" name="finding-body-1">
            <a:extLst xmlns:a="http://schemas.openxmlformats.org/drawingml/2006/main">
              <a:ext uri="{FF2B5EF4-FFF2-40B4-BE49-F238E27FC236}">
                <a16:creationId xmlns:a16="http://schemas.microsoft.com/office/drawing/2014/main" id="{EA683BF9-C52B-42E6-AAA7-686358F8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040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90.7% of customer IDs appear in more than one 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B1F4E-72A3-4BE4-939D-4F779B85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6" name="finding-number-2">
            <a:extLst xmlns:a="http://schemas.openxmlformats.org/drawingml/2006/main">
              <a:ext uri="{FF2B5EF4-FFF2-40B4-BE49-F238E27FC236}">
                <a16:creationId xmlns:a16="http://schemas.microsoft.com/office/drawing/2014/main" id="{6E226CEF-6870-46F8-84D3-2A751E39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finding-title-2">
            <a:extLst xmlns:a="http://schemas.openxmlformats.org/drawingml/2006/main">
              <a:ext uri="{FF2B5EF4-FFF2-40B4-BE49-F238E27FC236}">
                <a16:creationId xmlns:a16="http://schemas.microsoft.com/office/drawing/2014/main" id="{3553EACE-9EC6-44CD-975F-08EEB999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528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E355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E355E"/>
                </a:solidFill>
                <a:latin typeface="Arial"/>
                <a:ea typeface="Arial"/>
                <a:cs typeface="Arial"/>
              </a:rPr>
              <a:t>Cross-category orders</a:t>
            </a:r>
          </a:p>
        </p:txBody>
      </p:sp>
      <p:sp>
        <p:nvSpPr>
          <p:cNvPr id="18" name="finding-body-2">
            <a:extLst xmlns:a="http://schemas.openxmlformats.org/drawingml/2006/main">
              <a:ext uri="{FF2B5EF4-FFF2-40B4-BE49-F238E27FC236}">
                <a16:creationId xmlns:a16="http://schemas.microsoft.com/office/drawing/2014/main" id="{DBFE936D-BF22-418B-937D-F8897546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6720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57.3% of orders contain more than one category.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66294-624E-4477-B079-405B52B4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20" name="limitations-heading">
            <a:extLst xmlns:a="http://schemas.openxmlformats.org/drawingml/2006/main">
              <a:ext uri="{FF2B5EF4-FFF2-40B4-BE49-F238E27FC236}">
                <a16:creationId xmlns:a16="http://schemas.microsoft.com/office/drawing/2014/main" id="{B6F5CFA9-9453-4CB8-808A-3EEC63D7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21" name="limit-bullet-0">
            <a:extLst xmlns:a="http://schemas.openxmlformats.org/drawingml/2006/main">
              <a:ext uri="{FF2B5EF4-FFF2-40B4-BE49-F238E27FC236}">
                <a16:creationId xmlns:a16="http://schemas.microsoft.com/office/drawing/2014/main" id="{71667503-264B-4DE5-9E5D-FA04A229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1783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limit-text-0">
            <a:extLst xmlns:a="http://schemas.openxmlformats.org/drawingml/2006/main">
              <a:ext uri="{FF2B5EF4-FFF2-40B4-BE49-F238E27FC236}">
                <a16:creationId xmlns:a16="http://schemas.microsoft.com/office/drawing/2014/main" id="{4ADD2BD2-6FE6-4F6E-99BD-7DD0915E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Synthetic demonstration data; no real customer behaviour is represented.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8D203-7313-41AF-8F2B-4085ABD7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24" name="limit-bullet-1">
            <a:extLst xmlns:a="http://schemas.openxmlformats.org/drawingml/2006/main">
              <a:ext uri="{FF2B5EF4-FFF2-40B4-BE49-F238E27FC236}">
                <a16:creationId xmlns:a16="http://schemas.microsoft.com/office/drawing/2014/main" id="{E582298E-E178-4939-AB5D-BC193569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1783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limit-text-1">
            <a:extLst xmlns:a="http://schemas.openxmlformats.org/drawingml/2006/main">
              <a:ext uri="{FF2B5EF4-FFF2-40B4-BE49-F238E27FC236}">
                <a16:creationId xmlns:a16="http://schemas.microsoft.com/office/drawing/2014/main" id="{06B45784-E1FA-460D-9F85-59C27B2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Fixed RFM rules are descriptive and do not predict churn or lifetime value.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5512A-9FB2-4CBC-A311-92CEDB0A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27" name="limit-bullet-2">
            <a:extLst xmlns:a="http://schemas.openxmlformats.org/drawingml/2006/main">
              <a:ext uri="{FF2B5EF4-FFF2-40B4-BE49-F238E27FC236}">
                <a16:creationId xmlns:a16="http://schemas.microsoft.com/office/drawing/2014/main" id="{3172B3D5-ADB2-46D2-81C2-4B92732C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1783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8" name="limit-text-2">
            <a:extLst xmlns:a="http://schemas.openxmlformats.org/drawingml/2006/main">
              <a:ext uri="{FF2B5EF4-FFF2-40B4-BE49-F238E27FC236}">
                <a16:creationId xmlns:a16="http://schemas.microsoft.com/office/drawing/2014/main" id="{7EA2D4D4-A24A-41BF-ABE8-C73FD264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814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Basket co-occurrence does not prove causation.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026374-7E82-4BAA-8236-9AABC363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148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30" name="limit-bullet-3">
            <a:extLst xmlns:a="http://schemas.openxmlformats.org/drawingml/2006/main">
              <a:ext uri="{FF2B5EF4-FFF2-40B4-BE49-F238E27FC236}">
                <a16:creationId xmlns:a16="http://schemas.microsoft.com/office/drawing/2014/main" id="{74AE953E-E59B-4147-97BD-2C3009A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B178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1783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limit-text-3">
            <a:extLst xmlns:a="http://schemas.openxmlformats.org/drawingml/2006/main">
              <a:ext uri="{FF2B5EF4-FFF2-40B4-BE49-F238E27FC236}">
                <a16:creationId xmlns:a16="http://schemas.microsoft.com/office/drawing/2014/main" id="{D9EF480D-9B3B-4C2E-ADE7-F12ABA67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Revenue excludes taxes, shipping, returns, refunds and product costs.</a:t>
            </a:r>
          </a:p>
        </p:txBody>
      </p:sp>
      <p:sp>
        <p:nvSpPr>
          <p:cNvPr id="32" name="next-step">
            <a:extLst xmlns:a="http://schemas.openxmlformats.org/drawingml/2006/main">
              <a:ext uri="{FF2B5EF4-FFF2-40B4-BE49-F238E27FC236}">
                <a16:creationId xmlns:a16="http://schemas.microsoft.com/office/drawing/2014/main" id="{CAFA62B0-CD30-4FDD-A51E-223FFCAD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1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67183"/>
                </a:solidFill>
                <a:latin typeface="Arial"/>
                <a:ea typeface="Arial"/>
                <a:cs typeface="Arial"/>
              </a:rPr>
              <a:t>Next step: reconcile the calculations on a small approved dataset before presenting business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5525550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5D46A37-7115-43A6-97E6-8A1CA5D9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B13D7F-B351-4BC1-B19A-36F2C6FA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A practical starting point for shopping analytics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47DB9E-37CB-4C40-A162-0BF55E87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demonstrates how transaction records can be turned into explainable summaries.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43D82-C324-418E-A798-8777BA1A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01EC3-A0B2-4FBD-A2AC-1D4D94AB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6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FD3F2A5E-170F-4462-AE95-7A521103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66718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7183"/>
                </a:solidFill>
                <a:latin typeface="Arial"/>
                <a:ea typeface="Arial"/>
                <a:cs typeface="Arial"/>
              </a:rPr>
              <a:t>COMMERCELENS  ·  PROJECT 29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41EF05D-2369-4B99-A213-BF2139C8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29467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946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conclusion-heading">
            <a:extLst xmlns:a="http://schemas.openxmlformats.org/drawingml/2006/main">
              <a:ext uri="{FF2B5EF4-FFF2-40B4-BE49-F238E27FC236}">
                <a16:creationId xmlns:a16="http://schemas.microsoft.com/office/drawing/2014/main" id="{442DB045-BFE7-4FF9-A1B9-C88BBF92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PROJECT CONTRIBUTION</a:t>
            </a:r>
          </a:p>
        </p:txBody>
      </p:sp>
      <p:sp>
        <p:nvSpPr>
          <p:cNvPr id="9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453B1851-7D32-46A5-ACE8-8D0D1577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4"/>
          </a:bodyPr>
          <a:lstStyle xmlns:a="http://schemas.openxmlformats.org/drawingml/2006/main">
            <a:def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The dashboard combines sales and product summaries with transparent customer groups and order-level category pairs. Filters and CSV import make the example usable with other compatible transaction files.</a:t>
            </a:r>
          </a:p>
        </p:txBody>
      </p:sp>
      <p:sp>
        <p:nvSpPr>
          <p:cNvPr id="10" name="conclusion-limit">
            <a:extLst xmlns:a="http://schemas.openxmlformats.org/drawingml/2006/main">
              <a:ext uri="{FF2B5EF4-FFF2-40B4-BE49-F238E27FC236}">
                <a16:creationId xmlns:a16="http://schemas.microsoft.com/office/drawing/2014/main" id="{D5FDEC57-B0A2-4AC3-A41A-7EB60BA6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Its sample data and fixed rules make it suitable for an internal demonstration. Further validation is needed before applying it to real business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646FE-F1A9-481F-AE84-B55BC1E2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0" cy="385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8"/>
            </a:solidFill>
            <a:prstDash val="solid"/>
          </a:ln>
        </p:spPr>
      </p:sp>
      <p:sp>
        <p:nvSpPr>
          <p:cNvPr id="12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61DEE8B-26C4-469B-89CC-B279073F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541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5416C"/>
                </a:solidFill>
                <a:latin typeface="Arial"/>
                <a:ea typeface="Arial"/>
                <a:cs typeface="Arial"/>
              </a:rPr>
              <a:t>SELECTED REFERENCES</a:t>
            </a:r>
          </a:p>
        </p:txBody>
      </p:sp>
      <p:sp>
        <p:nvSpPr>
          <p:cNvPr id="13" name="reference-one">
            <a:extLst xmlns:a="http://schemas.openxmlformats.org/drawingml/2006/main">
              <a:ext uri="{FF2B5EF4-FFF2-40B4-BE49-F238E27FC236}">
                <a16:creationId xmlns:a16="http://schemas.microsoft.com/office/drawing/2014/main" id="{4D90AB64-7513-40CE-A8D1-D20160B5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[1] Agrawal, R., Imieliński, T. &amp; Swami, A. (1993). “Mining Association Rules Between Sets of Items in Large Databases.” ACM SIGMOD, 207–216. doi:10.1145/170035.170072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6E8E3-C479-4717-B9E5-AE97B8A9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791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15" name="reference-two">
            <a:extLst xmlns:a="http://schemas.openxmlformats.org/drawingml/2006/main">
              <a:ext uri="{FF2B5EF4-FFF2-40B4-BE49-F238E27FC236}">
                <a16:creationId xmlns:a16="http://schemas.microsoft.com/office/drawing/2014/main" id="{B7C4B68C-6CE9-45A7-BB20-5D997917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66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30394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03944"/>
                </a:solidFill>
                <a:latin typeface="Arial"/>
                <a:ea typeface="Arial"/>
                <a:cs typeface="Arial"/>
              </a:rPr>
              <a:t>[2] Fader, P. S., Hardie, B. G. S. &amp; Lee, K. L. (2005). “RFM and CLV: Using Iso-Value Curves for Customer Base Analysis.” Journal of Marketing Research, 42(4), 415–430. doi:10.1509/jmkr.2005.42.4.415</a:t>
            </a:r>
          </a:p>
        </p:txBody>
      </p:sp>
      <p:sp>
        <p:nvSpPr>
          <p:cNvPr id="16" name="closing">
            <a:extLst xmlns:a="http://schemas.openxmlformats.org/drawingml/2006/main">
              <a:ext uri="{FF2B5EF4-FFF2-40B4-BE49-F238E27FC236}">
                <a16:creationId xmlns:a16="http://schemas.microsoft.com/office/drawing/2014/main" id="{9591EBFA-0648-468B-849B-7E0DC6D5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defRPr>
            </a:pPr>
            <a:r>
              <a:rPr sz="2100" b="1" i="1">
                <a:solidFill>
                  <a:srgbClr val="1E355E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58826190"/>
      </p:ext>
    </p:extLst>
  </p:cSld>
</p:sld>
</file>

<file path=ppt/theme/theme1.xml><?xml version="1.0" encoding="utf-8"?>
<a:theme xmlns:a="http://schemas.openxmlformats.org/drawingml/2006/main" name="ChatGPT">
  <a:themeElements>
    <a:clrScheme name="CommerceLens Academic">
      <a:dk1>
        <a:srgbClr val="000000"/>
      </a:dk1>
      <a:lt1>
        <a:srgbClr val="FFFFFF"/>
      </a:lt1>
      <a:dk2>
        <a:srgbClr val="1E355E"/>
      </a:dk2>
      <a:lt2>
        <a:srgbClr val="F2F5F9"/>
      </a:lt2>
      <a:accent1>
        <a:srgbClr val="294676"/>
      </a:accent1>
      <a:accent2>
        <a:srgbClr val="A5416C"/>
      </a:accent2>
      <a:accent3>
        <a:srgbClr val="B1783C"/>
      </a:accent3>
      <a:accent4>
        <a:srgbClr val="167E70"/>
      </a:accent4>
      <a:accent5>
        <a:srgbClr val="6E9A79"/>
      </a:accent5>
      <a:accent6>
        <a:srgbClr val="8A9CB9"/>
      </a:accent6>
      <a:hlink>
        <a:srgbClr val="294676"/>
      </a:hlink>
      <a:folHlink>
        <a:srgbClr val="A5416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ommerceLens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2026-10-22T15:08:45.9470000Z</dcterms:created>
  <dcterms:modified xsi:type="dcterms:W3CDTF">2026-10-22T15:08:45.9470000Z</dcterms:modified>
</coreProperties>
</file>